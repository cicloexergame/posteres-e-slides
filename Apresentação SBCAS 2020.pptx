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Roboto-bold.fntdata"/><Relationship Id="rId10" Type="http://schemas.openxmlformats.org/officeDocument/2006/relationships/slide" Target="slides/slide6.xml"/><Relationship Id="rId21" Type="http://schemas.openxmlformats.org/officeDocument/2006/relationships/font" Target="fonts/Roboto-regular.fntdata"/><Relationship Id="rId13" Type="http://schemas.openxmlformats.org/officeDocument/2006/relationships/slide" Target="slides/slide9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8.xml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freeimages.com/photo/business-1239221" TargetMode="External"/><Relationship Id="rId3" Type="http://schemas.openxmlformats.org/officeDocument/2006/relationships/hyperlink" Target="http://www.freeimages.com/photo/business-1239221" TargetMode="External"/><Relationship Id="rId4" Type="http://schemas.openxmlformats.org/officeDocument/2006/relationships/hyperlink" Target="http://www.freeimages.com/photo/business-building-1564029" TargetMode="External"/><Relationship Id="rId5" Type="http://schemas.openxmlformats.org/officeDocument/2006/relationships/hyperlink" Target="http://www.freeimages.com/photo/business-building-1564029" TargetMode="External"/><Relationship Id="rId6" Type="http://schemas.openxmlformats.org/officeDocument/2006/relationships/hyperlink" Target="http://www.freeimages.com/photo/conference-room-2-1486111" TargetMode="External"/><Relationship Id="rId7" Type="http://schemas.openxmlformats.org/officeDocument/2006/relationships/hyperlink" Target="http://www.freeimages.com/photo/conference-room-2-1486111" TargetMode="External"/><Relationship Id="rId8" Type="http://schemas.openxmlformats.org/officeDocument/2006/relationships/hyperlink" Target="http://www.freeimages.com/photo/abacus-1193093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freeimages.com/photo/business-1239221" TargetMode="External"/><Relationship Id="rId3" Type="http://schemas.openxmlformats.org/officeDocument/2006/relationships/hyperlink" Target="http://www.freeimages.com/photo/business-1239221" TargetMode="External"/><Relationship Id="rId4" Type="http://schemas.openxmlformats.org/officeDocument/2006/relationships/hyperlink" Target="http://www.freeimages.com/photo/business-building-1564029" TargetMode="External"/><Relationship Id="rId5" Type="http://schemas.openxmlformats.org/officeDocument/2006/relationships/hyperlink" Target="http://www.freeimages.com/photo/business-building-1564029" TargetMode="External"/><Relationship Id="rId6" Type="http://schemas.openxmlformats.org/officeDocument/2006/relationships/hyperlink" Target="http://www.freeimages.com/photo/conference-room-2-1486111" TargetMode="External"/><Relationship Id="rId7" Type="http://schemas.openxmlformats.org/officeDocument/2006/relationships/hyperlink" Target="http://www.freeimages.com/photo/conference-room-2-1486111" TargetMode="External"/><Relationship Id="rId8" Type="http://schemas.openxmlformats.org/officeDocument/2006/relationships/hyperlink" Target="http://www.freeimages.com/photo/abacus-1193093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freeimages.com/photo/business-1239221" TargetMode="External"/><Relationship Id="rId3" Type="http://schemas.openxmlformats.org/officeDocument/2006/relationships/hyperlink" Target="http://www.freeimages.com/photo/business-1239221" TargetMode="External"/><Relationship Id="rId4" Type="http://schemas.openxmlformats.org/officeDocument/2006/relationships/hyperlink" Target="http://www.freeimages.com/photo/business-building-1564029" TargetMode="External"/><Relationship Id="rId5" Type="http://schemas.openxmlformats.org/officeDocument/2006/relationships/hyperlink" Target="http://www.freeimages.com/photo/business-building-1564029" TargetMode="External"/><Relationship Id="rId6" Type="http://schemas.openxmlformats.org/officeDocument/2006/relationships/hyperlink" Target="http://www.freeimages.com/photo/conference-room-2-1486111" TargetMode="External"/><Relationship Id="rId7" Type="http://schemas.openxmlformats.org/officeDocument/2006/relationships/hyperlink" Target="http://www.freeimages.com/photo/conference-room-2-1486111" TargetMode="External"/><Relationship Id="rId8" Type="http://schemas.openxmlformats.org/officeDocument/2006/relationships/hyperlink" Target="http://www.freeimages.com/photo/abacus-1193093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freeimages.com/photo/business-1239221" TargetMode="External"/><Relationship Id="rId3" Type="http://schemas.openxmlformats.org/officeDocument/2006/relationships/hyperlink" Target="http://www.freeimages.com/photo/business-1239221" TargetMode="External"/><Relationship Id="rId4" Type="http://schemas.openxmlformats.org/officeDocument/2006/relationships/hyperlink" Target="http://www.freeimages.com/photo/business-building-1564029" TargetMode="External"/><Relationship Id="rId5" Type="http://schemas.openxmlformats.org/officeDocument/2006/relationships/hyperlink" Target="http://www.freeimages.com/photo/business-building-1564029" TargetMode="External"/><Relationship Id="rId6" Type="http://schemas.openxmlformats.org/officeDocument/2006/relationships/hyperlink" Target="http://www.freeimages.com/photo/conference-room-2-1486111" TargetMode="External"/><Relationship Id="rId7" Type="http://schemas.openxmlformats.org/officeDocument/2006/relationships/hyperlink" Target="http://www.freeimages.com/photo/conference-room-2-1486111" TargetMode="External"/><Relationship Id="rId8" Type="http://schemas.openxmlformats.org/officeDocument/2006/relationships/hyperlink" Target="http://www.freeimages.com/photo/abacus-1193093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freeimages.com/photo/business-1239221" TargetMode="External"/><Relationship Id="rId3" Type="http://schemas.openxmlformats.org/officeDocument/2006/relationships/hyperlink" Target="http://www.freeimages.com/photo/business-1239221" TargetMode="External"/><Relationship Id="rId4" Type="http://schemas.openxmlformats.org/officeDocument/2006/relationships/hyperlink" Target="http://www.freeimages.com/photo/business-building-1564029" TargetMode="External"/><Relationship Id="rId5" Type="http://schemas.openxmlformats.org/officeDocument/2006/relationships/hyperlink" Target="http://www.freeimages.com/photo/business-building-1564029" TargetMode="External"/><Relationship Id="rId6" Type="http://schemas.openxmlformats.org/officeDocument/2006/relationships/hyperlink" Target="http://www.freeimages.com/photo/conference-room-2-1486111" TargetMode="External"/><Relationship Id="rId7" Type="http://schemas.openxmlformats.org/officeDocument/2006/relationships/hyperlink" Target="http://www.freeimages.com/photo/conference-room-2-1486111" TargetMode="External"/><Relationship Id="rId8" Type="http://schemas.openxmlformats.org/officeDocument/2006/relationships/hyperlink" Target="http://www.freeimages.com/photo/abacus-1193093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freeimages.com/photo/business-1239221" TargetMode="External"/><Relationship Id="rId3" Type="http://schemas.openxmlformats.org/officeDocument/2006/relationships/hyperlink" Target="http://www.freeimages.com/photo/business-1239221" TargetMode="External"/><Relationship Id="rId4" Type="http://schemas.openxmlformats.org/officeDocument/2006/relationships/hyperlink" Target="http://www.freeimages.com/photo/business-building-1564029" TargetMode="External"/><Relationship Id="rId5" Type="http://schemas.openxmlformats.org/officeDocument/2006/relationships/hyperlink" Target="http://www.freeimages.com/photo/business-building-1564029" TargetMode="External"/><Relationship Id="rId6" Type="http://schemas.openxmlformats.org/officeDocument/2006/relationships/hyperlink" Target="http://www.freeimages.com/photo/conference-room-2-1486111" TargetMode="External"/><Relationship Id="rId7" Type="http://schemas.openxmlformats.org/officeDocument/2006/relationships/hyperlink" Target="http://www.freeimages.com/photo/conference-room-2-1486111" TargetMode="External"/><Relationship Id="rId8" Type="http://schemas.openxmlformats.org/officeDocument/2006/relationships/hyperlink" Target="http://www.freeimages.com/photo/abacus-1193093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freeimages.com/photo/business-1239221" TargetMode="External"/><Relationship Id="rId3" Type="http://schemas.openxmlformats.org/officeDocument/2006/relationships/hyperlink" Target="http://www.freeimages.com/photo/business-1239221" TargetMode="External"/><Relationship Id="rId4" Type="http://schemas.openxmlformats.org/officeDocument/2006/relationships/hyperlink" Target="http://www.freeimages.com/photo/business-building-1564029" TargetMode="External"/><Relationship Id="rId5" Type="http://schemas.openxmlformats.org/officeDocument/2006/relationships/hyperlink" Target="http://www.freeimages.com/photo/business-building-1564029" TargetMode="External"/><Relationship Id="rId6" Type="http://schemas.openxmlformats.org/officeDocument/2006/relationships/hyperlink" Target="http://www.freeimages.com/photo/conference-room-2-1486111" TargetMode="External"/><Relationship Id="rId7" Type="http://schemas.openxmlformats.org/officeDocument/2006/relationships/hyperlink" Target="http://www.freeimages.com/photo/conference-room-2-1486111" TargetMode="External"/><Relationship Id="rId8" Type="http://schemas.openxmlformats.org/officeDocument/2006/relationships/hyperlink" Target="http://www.freeimages.com/photo/abacus-1193093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freeimages.com/photo/business-1239221" TargetMode="External"/><Relationship Id="rId3" Type="http://schemas.openxmlformats.org/officeDocument/2006/relationships/hyperlink" Target="http://www.freeimages.com/photo/business-1239221" TargetMode="External"/><Relationship Id="rId4" Type="http://schemas.openxmlformats.org/officeDocument/2006/relationships/hyperlink" Target="http://www.freeimages.com/photo/business-building-1564029" TargetMode="External"/><Relationship Id="rId5" Type="http://schemas.openxmlformats.org/officeDocument/2006/relationships/hyperlink" Target="http://www.freeimages.com/photo/business-building-1564029" TargetMode="External"/><Relationship Id="rId6" Type="http://schemas.openxmlformats.org/officeDocument/2006/relationships/hyperlink" Target="http://www.freeimages.com/photo/conference-room-2-1486111" TargetMode="External"/><Relationship Id="rId7" Type="http://schemas.openxmlformats.org/officeDocument/2006/relationships/hyperlink" Target="http://www.freeimages.com/photo/conference-room-2-1486111" TargetMode="External"/><Relationship Id="rId8" Type="http://schemas.openxmlformats.org/officeDocument/2006/relationships/hyperlink" Target="http://www.freeimages.com/photo/abacus-1193093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freeimages.com/photo/business-1239221" TargetMode="External"/><Relationship Id="rId3" Type="http://schemas.openxmlformats.org/officeDocument/2006/relationships/hyperlink" Target="http://www.freeimages.com/photo/business-1239221" TargetMode="External"/><Relationship Id="rId4" Type="http://schemas.openxmlformats.org/officeDocument/2006/relationships/hyperlink" Target="http://www.freeimages.com/photo/business-building-1564029" TargetMode="External"/><Relationship Id="rId5" Type="http://schemas.openxmlformats.org/officeDocument/2006/relationships/hyperlink" Target="http://www.freeimages.com/photo/business-building-1564029" TargetMode="External"/><Relationship Id="rId6" Type="http://schemas.openxmlformats.org/officeDocument/2006/relationships/hyperlink" Target="http://www.freeimages.com/photo/conference-room-2-1486111" TargetMode="External"/><Relationship Id="rId7" Type="http://schemas.openxmlformats.org/officeDocument/2006/relationships/hyperlink" Target="http://www.freeimages.com/photo/conference-room-2-1486111" TargetMode="External"/><Relationship Id="rId8" Type="http://schemas.openxmlformats.org/officeDocument/2006/relationships/hyperlink" Target="http://www.freeimages.com/photo/abacus-1193093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freeimages.com/photo/business-1239221" TargetMode="External"/><Relationship Id="rId3" Type="http://schemas.openxmlformats.org/officeDocument/2006/relationships/hyperlink" Target="http://www.freeimages.com/photo/business-1239221" TargetMode="External"/><Relationship Id="rId4" Type="http://schemas.openxmlformats.org/officeDocument/2006/relationships/hyperlink" Target="http://www.freeimages.com/photo/business-building-1564029" TargetMode="External"/><Relationship Id="rId5" Type="http://schemas.openxmlformats.org/officeDocument/2006/relationships/hyperlink" Target="http://www.freeimages.com/photo/business-building-1564029" TargetMode="External"/><Relationship Id="rId6" Type="http://schemas.openxmlformats.org/officeDocument/2006/relationships/hyperlink" Target="http://www.freeimages.com/photo/conference-room-2-1486111" TargetMode="External"/><Relationship Id="rId7" Type="http://schemas.openxmlformats.org/officeDocument/2006/relationships/hyperlink" Target="http://www.freeimages.com/photo/conference-room-2-1486111" TargetMode="External"/><Relationship Id="rId8" Type="http://schemas.openxmlformats.org/officeDocument/2006/relationships/hyperlink" Target="http://www.freeimages.com/photo/abacus-1193093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e14cc41d1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ATTRIBUTIONS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http://www.freeimages.com/photo/business-1239221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FreeImages.com/Mihai Eustatiu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http://www.freeimages.com/photo/business-building-1564029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5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FreeImages.com/Bob Smith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http://www.freeimages.com/photo/conference-room-2-1486111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7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FreeImages.com/michelle ho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http://www.freeimages.com/photo/abacus-1193093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FreeImages.com/John evans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e14cc41d1_0_1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92edee517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ATTRIBUTIONS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http://www.freeimages.com/photo/business-1239221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FreeImages.com/Mihai Eustatiu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http://www.freeimages.com/photo/business-building-1564029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5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FreeImages.com/Bob Smith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http://www.freeimages.com/photo/conference-room-2-1486111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7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FreeImages.com/michelle ho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http://www.freeimages.com/photo/abacus-1193093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FreeImages.com/John evans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92edee5175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92edee5175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92edee517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92edee5175_0_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92edee517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ATTRIBUTIONS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http://www.freeimages.com/photo/business-1239221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FreeImages.com/Mihai Eustatiu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http://www.freeimages.com/photo/business-building-1564029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5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FreeImages.com/Bob Smith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http://www.freeimages.com/photo/conference-room-2-1486111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7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FreeImages.com/michelle ho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http://www.freeimages.com/photo/abacus-1193093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FreeImages.com/John evans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92edee5175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92edee517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ATTRIBUTIONS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http://www.freeimages.com/photo/business-1239221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FreeImages.com/Mihai Eustatiu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http://www.freeimages.com/photo/business-building-1564029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5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FreeImages.com/Bob Smith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http://www.freeimages.com/photo/conference-room-2-1486111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7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FreeImages.com/michelle ho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http://www.freeimages.com/photo/abacus-1193093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FreeImages.com/John evans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92edee5175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92edee517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92edee517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92edee5175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92edee5175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92edee5175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ATTRIBUTIONS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http://www.freeimages.com/photo/business-1239221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FreeImages.com/Mihai Eustatiu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http://www.freeimages.com/photo/business-building-1564029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5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FreeImages.com/Bob Smith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http://www.freeimages.com/photo/conference-room-2-1486111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7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FreeImages.com/michelle ho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http://www.freeimages.com/photo/abacus-1193093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FreeImages.com/John evans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92edee5175_0_2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2edee5175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ATTRIBUTIONS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http://www.freeimages.com/photo/business-1239221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FreeImages.com/Mihai Eustatiu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http://www.freeimages.com/photo/business-building-1564029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5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FreeImages.com/Bob Smith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http://www.freeimages.com/photo/conference-room-2-1486111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7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FreeImages.com/michelle ho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http://www.freeimages.com/photo/abacus-1193093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FreeImages.com/John evans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92edee5175_0_2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92edee5175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ATTRIBUTIONS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http://www.freeimages.com/photo/business-1239221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FreeImages.com/Mihai Eustatiu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http://www.freeimages.com/photo/business-building-1564029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5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FreeImages.com/Bob Smith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http://www.freeimages.com/photo/conference-room-2-1486111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7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FreeImages.com/michelle ho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http://www.freeimages.com/photo/abacus-1193093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FreeImages.com/John evans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92edee5175_0_2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92edee5175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ATTRIBUTIONS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http://www.freeimages.com/photo/business-1239221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FreeImages.com/Mihai Eustatiu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http://www.freeimages.com/photo/business-building-1564029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5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FreeImages.com/Bob Smith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http://www.freeimages.com/photo/conference-room-2-1486111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7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FreeImages.com/michelle ho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http://www.freeimages.com/photo/abacus-1193093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FreeImages.com/John evans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92edee5175_0_2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92edee5175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ATTRIBUTIONS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http://www.freeimages.com/photo/business-1239221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FreeImages.com/Mihai Eustatiu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http://www.freeimages.com/photo/business-building-1564029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5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FreeImages.com/Bob Smith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http://www.freeimages.com/photo/conference-room-2-1486111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7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FreeImages.com/michelle ho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http://www.freeimages.com/photo/abacus-1193093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FreeImages.com/John evans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92edee5175_0_2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2edee5175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ATTRIBUTIONS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http://www.freeimages.com/photo/business-1239221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FreeImages.com/Mihai Eustatiu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http://www.freeimages.com/photo/business-building-1564029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5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FreeImages.com/Bob Smith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http://www.freeimages.com/photo/conference-room-2-1486111</a:t>
            </a:r>
            <a:endParaRPr sz="1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7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FreeImages.com/michelle ho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http://www.freeimages.com/photo/abacus-1193093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FreeImages.com/John evans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92edee5175_0_2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92edee5175_0_2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92edee5175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92edee5175_0_2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92edee5175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92edee5175_0_3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33400" y="1276350"/>
            <a:ext cx="815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33400" y="2038350"/>
            <a:ext cx="815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971550"/>
            <a:ext cx="8229600" cy="36230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457200" y="133349"/>
            <a:ext cx="8229600" cy="609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15009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563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348854"/>
            <a:ext cx="2971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2038350"/>
            <a:ext cx="2971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480"/>
              </a:spcBef>
              <a:spcAft>
                <a:spcPts val="0"/>
              </a:spcAft>
              <a:buClr>
                <a:srgbClr val="D8D8D8"/>
              </a:buClr>
              <a:buSzPts val="1400"/>
              <a:buFont typeface="Calibri"/>
              <a:buNone/>
              <a:defRPr sz="1400">
                <a:solidFill>
                  <a:srgbClr val="D8D8D8"/>
                </a:solidFill>
              </a:defRPr>
            </a:lvl1pPr>
            <a:lvl2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spcBef>
                <a:spcPts val="360"/>
              </a:spcBef>
              <a:spcAft>
                <a:spcPts val="0"/>
              </a:spcAft>
              <a:buSzPts val="1400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spcBef>
                <a:spcPts val="320"/>
              </a:spcBef>
              <a:spcAft>
                <a:spcPts val="0"/>
              </a:spcAft>
              <a:buSzPts val="1400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spcBef>
                <a:spcPts val="320"/>
              </a:spcBef>
              <a:spcAft>
                <a:spcPts val="0"/>
              </a:spcAft>
              <a:buSzPts val="1400"/>
              <a:buChar char="»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33350"/>
            <a:ext cx="8229600" cy="609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15009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133349"/>
            <a:ext cx="8229600" cy="609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15009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971550"/>
            <a:ext cx="4038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4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200"/>
            </a:lvl2pPr>
            <a:lvl3pPr indent="-317500" lvl="2" marL="1371600" rtl="0">
              <a:spcBef>
                <a:spcPts val="360"/>
              </a:spcBef>
              <a:spcAft>
                <a:spcPts val="0"/>
              </a:spcAft>
              <a:buSzPts val="1400"/>
              <a:buChar char="•"/>
              <a:defRPr sz="1100"/>
            </a:lvl3pPr>
            <a:lvl4pPr indent="-317500" lvl="3" marL="1828800" rtl="0">
              <a:spcBef>
                <a:spcPts val="320"/>
              </a:spcBef>
              <a:spcAft>
                <a:spcPts val="0"/>
              </a:spcAft>
              <a:buSzPts val="1400"/>
              <a:buChar char="–"/>
              <a:defRPr sz="1100"/>
            </a:lvl4pPr>
            <a:lvl5pPr indent="-317500" lvl="4" marL="2286000" rtl="0">
              <a:spcBef>
                <a:spcPts val="320"/>
              </a:spcBef>
              <a:spcAft>
                <a:spcPts val="0"/>
              </a:spcAft>
              <a:buSzPts val="1400"/>
              <a:buChar char="»"/>
              <a:defRPr sz="1100"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648200" y="971550"/>
            <a:ext cx="4038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200"/>
            </a:lvl2pPr>
            <a:lvl3pPr indent="-317500" lvl="2" marL="1371600" rtl="0">
              <a:spcBef>
                <a:spcPts val="360"/>
              </a:spcBef>
              <a:spcAft>
                <a:spcPts val="0"/>
              </a:spcAft>
              <a:buSzPts val="1400"/>
              <a:buChar char="•"/>
              <a:defRPr sz="1100"/>
            </a:lvl3pPr>
            <a:lvl4pPr indent="-317500" lvl="3" marL="1828800" rtl="0">
              <a:spcBef>
                <a:spcPts val="320"/>
              </a:spcBef>
              <a:spcAft>
                <a:spcPts val="0"/>
              </a:spcAft>
              <a:buSzPts val="1400"/>
              <a:buChar char="–"/>
              <a:defRPr sz="1100"/>
            </a:lvl4pPr>
            <a:lvl5pPr indent="-317500" lvl="4" marL="2286000" rtl="0">
              <a:spcBef>
                <a:spcPts val="320"/>
              </a:spcBef>
              <a:spcAft>
                <a:spcPts val="0"/>
              </a:spcAft>
              <a:buSzPts val="1400"/>
              <a:buChar char="»"/>
              <a:defRPr sz="1100"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wo Content">
  <p:cSld name="4_Two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133349"/>
            <a:ext cx="8229600" cy="609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15009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57200" y="971550"/>
            <a:ext cx="2667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4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200"/>
            </a:lvl2pPr>
            <a:lvl3pPr indent="-317500" lvl="2" marL="1371600" rtl="0">
              <a:spcBef>
                <a:spcPts val="360"/>
              </a:spcBef>
              <a:spcAft>
                <a:spcPts val="0"/>
              </a:spcAft>
              <a:buSzPts val="1400"/>
              <a:buChar char="•"/>
              <a:defRPr sz="1100"/>
            </a:lvl3pPr>
            <a:lvl4pPr indent="-317500" lvl="3" marL="1828800" rtl="0">
              <a:spcBef>
                <a:spcPts val="320"/>
              </a:spcBef>
              <a:spcAft>
                <a:spcPts val="0"/>
              </a:spcAft>
              <a:buSzPts val="1400"/>
              <a:buChar char="–"/>
              <a:defRPr sz="1100"/>
            </a:lvl4pPr>
            <a:lvl5pPr indent="-317500" lvl="4" marL="2286000" rtl="0">
              <a:spcBef>
                <a:spcPts val="320"/>
              </a:spcBef>
              <a:spcAft>
                <a:spcPts val="0"/>
              </a:spcAft>
              <a:buSzPts val="1400"/>
              <a:buChar char="»"/>
              <a:defRPr sz="1100"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2" type="body"/>
          </p:nvPr>
        </p:nvSpPr>
        <p:spPr>
          <a:xfrm>
            <a:off x="3238500" y="971550"/>
            <a:ext cx="2667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4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200"/>
            </a:lvl2pPr>
            <a:lvl3pPr indent="-317500" lvl="2" marL="1371600" rtl="0">
              <a:spcBef>
                <a:spcPts val="360"/>
              </a:spcBef>
              <a:spcAft>
                <a:spcPts val="0"/>
              </a:spcAft>
              <a:buSzPts val="1400"/>
              <a:buChar char="•"/>
              <a:defRPr sz="1100"/>
            </a:lvl3pPr>
            <a:lvl4pPr indent="-317500" lvl="3" marL="1828800" rtl="0">
              <a:spcBef>
                <a:spcPts val="320"/>
              </a:spcBef>
              <a:spcAft>
                <a:spcPts val="0"/>
              </a:spcAft>
              <a:buSzPts val="1400"/>
              <a:buChar char="–"/>
              <a:defRPr sz="1100"/>
            </a:lvl4pPr>
            <a:lvl5pPr indent="-317500" lvl="4" marL="2286000" rtl="0">
              <a:spcBef>
                <a:spcPts val="320"/>
              </a:spcBef>
              <a:spcAft>
                <a:spcPts val="0"/>
              </a:spcAft>
              <a:buSzPts val="1400"/>
              <a:buChar char="»"/>
              <a:defRPr sz="1100"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3" type="body"/>
          </p:nvPr>
        </p:nvSpPr>
        <p:spPr>
          <a:xfrm>
            <a:off x="6019800" y="971550"/>
            <a:ext cx="2667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4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200"/>
            </a:lvl2pPr>
            <a:lvl3pPr indent="-317500" lvl="2" marL="1371600" rtl="0">
              <a:spcBef>
                <a:spcPts val="360"/>
              </a:spcBef>
              <a:spcAft>
                <a:spcPts val="0"/>
              </a:spcAft>
              <a:buSzPts val="1400"/>
              <a:buChar char="•"/>
              <a:defRPr sz="1100"/>
            </a:lvl3pPr>
            <a:lvl4pPr indent="-317500" lvl="3" marL="1828800" rtl="0">
              <a:spcBef>
                <a:spcPts val="320"/>
              </a:spcBef>
              <a:spcAft>
                <a:spcPts val="0"/>
              </a:spcAft>
              <a:buSzPts val="1400"/>
              <a:buChar char="–"/>
              <a:defRPr sz="1100"/>
            </a:lvl4pPr>
            <a:lvl5pPr indent="-317500" lvl="4" marL="2286000" rtl="0">
              <a:spcBef>
                <a:spcPts val="320"/>
              </a:spcBef>
              <a:spcAft>
                <a:spcPts val="0"/>
              </a:spcAft>
              <a:buSzPts val="1400"/>
              <a:buChar char="»"/>
              <a:defRPr sz="1100"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ctrTitle"/>
          </p:nvPr>
        </p:nvSpPr>
        <p:spPr>
          <a:xfrm>
            <a:off x="533400" y="819150"/>
            <a:ext cx="815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533400" y="1657350"/>
            <a:ext cx="8153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model2">
  <p:cSld name="1_slidemodel2">
    <p:bg>
      <p:bgPr>
        <a:gradFill>
          <a:gsLst>
            <a:gs pos="0">
              <a:srgbClr val="1181AE"/>
            </a:gs>
            <a:gs pos="55000">
              <a:srgbClr val="1181AE"/>
            </a:gs>
            <a:gs pos="100000">
              <a:srgbClr val="095474"/>
            </a:gs>
          </a:gsLst>
          <a:path path="circle">
            <a:fillToRect l="100%" t="100%"/>
          </a:path>
          <a:tileRect b="-100%" r="-100%"/>
        </a:gra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2414004" y="2152975"/>
            <a:ext cx="4449167" cy="5333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3200" cap="none">
                <a:solidFill>
                  <a:srgbClr val="15009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wo Content">
  <p:cSld name="5_Two Conten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457200" y="133349"/>
            <a:ext cx="8229600" cy="609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15009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57200" y="971550"/>
            <a:ext cx="2667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4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200"/>
            </a:lvl2pPr>
            <a:lvl3pPr indent="-317500" lvl="2" marL="1371600" rtl="0">
              <a:spcBef>
                <a:spcPts val="360"/>
              </a:spcBef>
              <a:spcAft>
                <a:spcPts val="0"/>
              </a:spcAft>
              <a:buSzPts val="1400"/>
              <a:buChar char="•"/>
              <a:defRPr sz="1100"/>
            </a:lvl3pPr>
            <a:lvl4pPr indent="-317500" lvl="3" marL="1828800" rtl="0">
              <a:spcBef>
                <a:spcPts val="320"/>
              </a:spcBef>
              <a:spcAft>
                <a:spcPts val="0"/>
              </a:spcAft>
              <a:buSzPts val="1400"/>
              <a:buChar char="–"/>
              <a:defRPr sz="1100"/>
            </a:lvl4pPr>
            <a:lvl5pPr indent="-317500" lvl="4" marL="2286000" rtl="0">
              <a:spcBef>
                <a:spcPts val="320"/>
              </a:spcBef>
              <a:spcAft>
                <a:spcPts val="0"/>
              </a:spcAft>
              <a:buSzPts val="1400"/>
              <a:buChar char="»"/>
              <a:defRPr sz="1100"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1"/>
          <p:cNvSpPr txBox="1"/>
          <p:nvPr>
            <p:ph idx="2" type="body"/>
          </p:nvPr>
        </p:nvSpPr>
        <p:spPr>
          <a:xfrm>
            <a:off x="3238500" y="971550"/>
            <a:ext cx="2667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4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200"/>
            </a:lvl2pPr>
            <a:lvl3pPr indent="-317500" lvl="2" marL="1371600" rtl="0">
              <a:spcBef>
                <a:spcPts val="360"/>
              </a:spcBef>
              <a:spcAft>
                <a:spcPts val="0"/>
              </a:spcAft>
              <a:buSzPts val="1400"/>
              <a:buChar char="•"/>
              <a:defRPr sz="1100"/>
            </a:lvl3pPr>
            <a:lvl4pPr indent="-317500" lvl="3" marL="1828800" rtl="0">
              <a:spcBef>
                <a:spcPts val="320"/>
              </a:spcBef>
              <a:spcAft>
                <a:spcPts val="0"/>
              </a:spcAft>
              <a:buSzPts val="1400"/>
              <a:buChar char="–"/>
              <a:defRPr sz="1100"/>
            </a:lvl4pPr>
            <a:lvl5pPr indent="-317500" lvl="4" marL="2286000" rtl="0">
              <a:spcBef>
                <a:spcPts val="320"/>
              </a:spcBef>
              <a:spcAft>
                <a:spcPts val="0"/>
              </a:spcAft>
              <a:buSzPts val="1400"/>
              <a:buChar char="»"/>
              <a:defRPr sz="1100"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457201" y="819150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rgbClr val="15009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3575050" y="819150"/>
            <a:ext cx="5111750" cy="37754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 sz="2400"/>
            </a:lvl1pPr>
            <a:lvl2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2000"/>
            </a:lvl2pPr>
            <a:lvl3pPr indent="-317500" lvl="2" marL="1371600" rtl="0">
              <a:spcBef>
                <a:spcPts val="360"/>
              </a:spcBef>
              <a:spcAft>
                <a:spcPts val="0"/>
              </a:spcAft>
              <a:buSzPts val="1400"/>
              <a:buChar char="•"/>
              <a:defRPr sz="1800"/>
            </a:lvl3pPr>
            <a:lvl4pPr indent="-317500" lvl="3" marL="1828800" rtl="0">
              <a:spcBef>
                <a:spcPts val="320"/>
              </a:spcBef>
              <a:spcAft>
                <a:spcPts val="0"/>
              </a:spcAft>
              <a:buSzPts val="1400"/>
              <a:buChar char="–"/>
              <a:defRPr sz="1600"/>
            </a:lvl4pPr>
            <a:lvl5pPr indent="-317500" lvl="4" marL="2286000" rtl="0">
              <a:spcBef>
                <a:spcPts val="320"/>
              </a:spcBef>
              <a:spcAft>
                <a:spcPts val="0"/>
              </a:spcAft>
              <a:buSzPts val="1400"/>
              <a:buChar char="»"/>
              <a:defRPr sz="1600"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457201" y="1733550"/>
            <a:ext cx="3008313" cy="28610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2pPr>
            <a:lvl3pPr indent="-228600" lvl="2" marL="1371600" rtl="0">
              <a:spcBef>
                <a:spcPts val="36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3pPr>
            <a:lvl4pPr indent="-228600" lvl="3" marL="1828800" rtl="0">
              <a:spcBef>
                <a:spcPts val="32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4pPr>
            <a:lvl5pPr indent="-228600" lvl="4" marL="2286000" rtl="0">
              <a:spcBef>
                <a:spcPts val="32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9pPr>
          </a:lstStyle>
          <a:p/>
        </p:txBody>
      </p:sp>
      <p:sp>
        <p:nvSpPr>
          <p:cNvPr id="74" name="Google Shape;74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rgbClr val="15009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p14"/>
          <p:cNvSpPr/>
          <p:nvPr>
            <p:ph idx="2" type="pic"/>
          </p:nvPr>
        </p:nvSpPr>
        <p:spPr>
          <a:xfrm>
            <a:off x="1792288" y="895349"/>
            <a:ext cx="5486400" cy="2650331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2pPr>
            <a:lvl3pPr indent="-228600" lvl="2" marL="1371600" rtl="0">
              <a:spcBef>
                <a:spcPts val="36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3pPr>
            <a:lvl4pPr indent="-228600" lvl="3" marL="1828800" rtl="0">
              <a:spcBef>
                <a:spcPts val="32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4pPr>
            <a:lvl5pPr indent="-228600" lvl="4" marL="2286000" rtl="0">
              <a:spcBef>
                <a:spcPts val="32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457200" y="133350"/>
            <a:ext cx="8229600" cy="609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15009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 rot="5400000">
            <a:off x="2760463" y="-1331714"/>
            <a:ext cx="362307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 rot="5400000">
            <a:off x="5884663" y="1792486"/>
            <a:ext cx="354687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15009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 rot="5400000">
            <a:off x="1693664" y="-188714"/>
            <a:ext cx="354687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  <p:pic>
        <p:nvPicPr>
          <p:cNvPr id="99" name="Google Shape;99;p17"/>
          <p:cNvPicPr preferRelativeResize="0"/>
          <p:nvPr/>
        </p:nvPicPr>
        <p:blipFill rotWithShape="1">
          <a:blip r:embed="rId2">
            <a:alphaModFix/>
          </a:blip>
          <a:srcRect b="36317" l="2049" r="72682" t="39130"/>
          <a:stretch/>
        </p:blipFill>
        <p:spPr>
          <a:xfrm rot="5400000">
            <a:off x="565625" y="522899"/>
            <a:ext cx="2308649" cy="126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133350"/>
            <a:ext cx="8229600" cy="609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0092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1500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971550"/>
            <a:ext cx="8229600" cy="36230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Relationship Id="rId4" Type="http://schemas.openxmlformats.org/officeDocument/2006/relationships/image" Target="../media/image1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ctrTitle"/>
          </p:nvPr>
        </p:nvSpPr>
        <p:spPr>
          <a:xfrm>
            <a:off x="470875" y="1052550"/>
            <a:ext cx="6644400" cy="1720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PH" sz="3500">
                <a:latin typeface="Roboto"/>
                <a:ea typeface="Roboto"/>
                <a:cs typeface="Roboto"/>
                <a:sym typeface="Roboto"/>
              </a:rPr>
              <a:t>Exergame com Cicloergômetro para a Reabilitação de Pacientes em Tempos de COVID-19</a:t>
            </a:r>
            <a:endParaRPr sz="3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8"/>
          <p:cNvSpPr txBox="1"/>
          <p:nvPr>
            <p:ph idx="1" type="subTitle"/>
          </p:nvPr>
        </p:nvSpPr>
        <p:spPr>
          <a:xfrm>
            <a:off x="511775" y="3446900"/>
            <a:ext cx="7848600" cy="158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i="1" lang="en-PH" sz="2100">
                <a:latin typeface="Roboto"/>
                <a:ea typeface="Roboto"/>
                <a:cs typeface="Roboto"/>
                <a:sym typeface="Roboto"/>
              </a:rPr>
              <a:t>Carlos Henrique Rorato Souza</a:t>
            </a:r>
            <a:endParaRPr i="1" sz="21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i="1" lang="en-PH" sz="2100">
                <a:latin typeface="Roboto"/>
                <a:ea typeface="Roboto"/>
                <a:cs typeface="Roboto"/>
                <a:sym typeface="Roboto"/>
              </a:rPr>
              <a:t>Douglas Battisti</a:t>
            </a:r>
            <a:endParaRPr i="1" sz="21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i="1" lang="en-PH" sz="2100">
                <a:latin typeface="Roboto"/>
                <a:ea typeface="Roboto"/>
                <a:cs typeface="Roboto"/>
                <a:sym typeface="Roboto"/>
              </a:rPr>
              <a:t>Luciana de Oliveira Berretta</a:t>
            </a:r>
            <a:endParaRPr i="1" sz="21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i="1" lang="en-PH" sz="2100">
                <a:latin typeface="Roboto"/>
                <a:ea typeface="Roboto"/>
                <a:cs typeface="Roboto"/>
                <a:sym typeface="Roboto"/>
              </a:rPr>
              <a:t>Sérgio Teixeira de Carvalho</a:t>
            </a:r>
            <a:endParaRPr i="1" sz="2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/>
        </p:nvSpPr>
        <p:spPr>
          <a:xfrm>
            <a:off x="457200" y="209549"/>
            <a:ext cx="8229600" cy="4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Ano de 2020: A pandemia da COVID-19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 rotWithShape="1">
          <a:blip r:embed="rId3">
            <a:alphaModFix/>
          </a:blip>
          <a:srcRect b="0" l="32861" r="37386" t="8792"/>
          <a:stretch/>
        </p:blipFill>
        <p:spPr>
          <a:xfrm>
            <a:off x="210500" y="1101650"/>
            <a:ext cx="2371749" cy="38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 rotWithShape="1">
          <a:blip r:embed="rId4">
            <a:alphaModFix/>
          </a:blip>
          <a:srcRect b="0" l="0" r="17634" t="0"/>
          <a:stretch/>
        </p:blipFill>
        <p:spPr>
          <a:xfrm>
            <a:off x="2685525" y="1101650"/>
            <a:ext cx="6268226" cy="38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299" y="1199930"/>
            <a:ext cx="1640199" cy="1647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/>
        </p:nvSpPr>
        <p:spPr>
          <a:xfrm>
            <a:off x="457200" y="209549"/>
            <a:ext cx="8229600" cy="4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Ano de 2020: A pandemia da COVID-19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0" r="0" t="8054"/>
          <a:stretch/>
        </p:blipFill>
        <p:spPr>
          <a:xfrm>
            <a:off x="84200" y="965575"/>
            <a:ext cx="5619676" cy="2905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 rotWithShape="1">
          <a:blip r:embed="rId4">
            <a:alphaModFix/>
          </a:blip>
          <a:srcRect b="0" l="0" r="37838" t="0"/>
          <a:stretch/>
        </p:blipFill>
        <p:spPr>
          <a:xfrm>
            <a:off x="5517700" y="965575"/>
            <a:ext cx="3493024" cy="28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/>
          <p:nvPr/>
        </p:nvSpPr>
        <p:spPr>
          <a:xfrm>
            <a:off x="1627700" y="1476200"/>
            <a:ext cx="2666400" cy="5562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0"/>
          <p:cNvSpPr txBox="1"/>
          <p:nvPr/>
        </p:nvSpPr>
        <p:spPr>
          <a:xfrm>
            <a:off x="54050" y="3904600"/>
            <a:ext cx="61194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500"/>
              <a:t>O</a:t>
            </a:r>
            <a:r>
              <a:rPr lang="en-PH" sz="1500"/>
              <a:t> </a:t>
            </a:r>
            <a:r>
              <a:rPr b="1" lang="en-PH" sz="1500"/>
              <a:t>isolamento social</a:t>
            </a:r>
            <a:r>
              <a:rPr lang="en-PH" sz="1500"/>
              <a:t> se torna a mais segura medida a ser adotada, pois é uma doença contagiosa para a qual não existem ainda medicamentos ou vacinas cuja eficácia tenha sido comprovada. Este isolamento pode auxiliar na redução da contaminação.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306250" y="2152975"/>
            <a:ext cx="8609700" cy="53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800"/>
              <a:t>Nesse sentido, entendemos que o cuidado que necessita da presença de profissionais de saúde </a:t>
            </a:r>
            <a:r>
              <a:rPr b="1" lang="en-PH" sz="2800"/>
              <a:t>precisa ser repensado</a:t>
            </a:r>
            <a:r>
              <a:rPr lang="en-PH" sz="2800"/>
              <a:t>, e que o uso das tecnologias disponíveis pode auxiliar concretamente estes pacientes, de modo a garantir a </a:t>
            </a:r>
            <a:r>
              <a:rPr b="1" lang="en-PH" sz="2800"/>
              <a:t>manutenção</a:t>
            </a:r>
            <a:r>
              <a:rPr lang="en-PH" sz="2800"/>
              <a:t> dos cuidados necessários, ainda que de forma virtual.</a:t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/>
        </p:nvSpPr>
        <p:spPr>
          <a:xfrm>
            <a:off x="457200" y="209549"/>
            <a:ext cx="8229600" cy="4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Objetivos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309750" y="1071750"/>
            <a:ext cx="85245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200">
                <a:latin typeface="Roboto"/>
                <a:ea typeface="Roboto"/>
                <a:cs typeface="Roboto"/>
                <a:sym typeface="Roboto"/>
              </a:rPr>
              <a:t>Este projeto visa o</a:t>
            </a:r>
            <a:r>
              <a:rPr lang="en-PH" sz="2200">
                <a:latin typeface="Roboto"/>
                <a:ea typeface="Roboto"/>
                <a:cs typeface="Roboto"/>
                <a:sym typeface="Roboto"/>
              </a:rPr>
              <a:t> desenvolvimento de um </a:t>
            </a:r>
            <a:r>
              <a:rPr b="1" lang="en-PH" sz="2200">
                <a:latin typeface="Roboto"/>
                <a:ea typeface="Roboto"/>
                <a:cs typeface="Roboto"/>
                <a:sym typeface="Roboto"/>
              </a:rPr>
              <a:t>exergame</a:t>
            </a:r>
            <a:r>
              <a:rPr lang="en-PH" sz="2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-PH" sz="2200">
                <a:latin typeface="Roboto"/>
                <a:ea typeface="Roboto"/>
                <a:cs typeface="Roboto"/>
                <a:sym typeface="Roboto"/>
              </a:rPr>
              <a:t>jogo sério</a:t>
            </a:r>
            <a:r>
              <a:rPr lang="en-PH" sz="2200">
                <a:latin typeface="Roboto"/>
                <a:ea typeface="Roboto"/>
                <a:cs typeface="Roboto"/>
                <a:sym typeface="Roboto"/>
              </a:rPr>
              <a:t> para motivar a realização de exercícios físicos, com técnicas de </a:t>
            </a:r>
            <a:r>
              <a:rPr b="1" lang="en-PH" sz="2200">
                <a:latin typeface="Roboto"/>
                <a:ea typeface="Roboto"/>
                <a:cs typeface="Roboto"/>
                <a:sym typeface="Roboto"/>
              </a:rPr>
              <a:t>realidade virtual não imersiva</a:t>
            </a:r>
            <a:r>
              <a:rPr lang="en-PH" sz="2200">
                <a:latin typeface="Roboto"/>
                <a:ea typeface="Roboto"/>
                <a:cs typeface="Roboto"/>
                <a:sym typeface="Roboto"/>
              </a:rPr>
              <a:t> e de </a:t>
            </a:r>
            <a:r>
              <a:rPr b="1" lang="en-PH" sz="2200">
                <a:latin typeface="Roboto"/>
                <a:ea typeface="Roboto"/>
                <a:cs typeface="Roboto"/>
                <a:sym typeface="Roboto"/>
              </a:rPr>
              <a:t>sistemas de tempo real</a:t>
            </a:r>
            <a:r>
              <a:rPr lang="en-PH" sz="2200">
                <a:latin typeface="Roboto"/>
                <a:ea typeface="Roboto"/>
                <a:cs typeface="Roboto"/>
                <a:sym typeface="Roboto"/>
              </a:rPr>
              <a:t> para envio de dados e comunicação por áudio/vídeo. O Exergame possibilita a realização das sessões de reabilitação de pacientes com disfunção muscular gerada por inatividade física em que </a:t>
            </a:r>
            <a:r>
              <a:rPr b="1" lang="en-PH" sz="2200">
                <a:latin typeface="Roboto"/>
                <a:ea typeface="Roboto"/>
                <a:cs typeface="Roboto"/>
                <a:sym typeface="Roboto"/>
              </a:rPr>
              <a:t>profissional e paciente estão em suas respectivas casas</a:t>
            </a:r>
            <a:r>
              <a:rPr lang="en-PH" sz="2200">
                <a:latin typeface="Roboto"/>
                <a:ea typeface="Roboto"/>
                <a:cs typeface="Roboto"/>
                <a:sym typeface="Roboto"/>
              </a:rPr>
              <a:t>.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353935">
            <a:off x="238184" y="3753798"/>
            <a:ext cx="614031" cy="644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5350" y="4266375"/>
            <a:ext cx="622300" cy="47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/>
          <p:nvPr/>
        </p:nvSpPr>
        <p:spPr>
          <a:xfrm>
            <a:off x="0" y="4164275"/>
            <a:ext cx="5751747" cy="958581"/>
          </a:xfrm>
          <a:custGeom>
            <a:rect b="b" l="l" r="r" t="t"/>
            <a:pathLst>
              <a:path extrusionOk="0" h="44159" w="198319">
                <a:moveTo>
                  <a:pt x="0" y="44159"/>
                </a:moveTo>
                <a:cubicBezTo>
                  <a:pt x="8315" y="37013"/>
                  <a:pt x="33809" y="6296"/>
                  <a:pt x="49889" y="1280"/>
                </a:cubicBezTo>
                <a:cubicBezTo>
                  <a:pt x="65969" y="-3736"/>
                  <a:pt x="82049" y="14267"/>
                  <a:pt x="96480" y="14061"/>
                </a:cubicBezTo>
                <a:cubicBezTo>
                  <a:pt x="110911" y="13855"/>
                  <a:pt x="123967" y="-301"/>
                  <a:pt x="136473" y="43"/>
                </a:cubicBezTo>
                <a:cubicBezTo>
                  <a:pt x="148980" y="387"/>
                  <a:pt x="161211" y="13374"/>
                  <a:pt x="171519" y="16123"/>
                </a:cubicBezTo>
                <a:cubicBezTo>
                  <a:pt x="181827" y="18872"/>
                  <a:pt x="193852" y="16466"/>
                  <a:pt x="198319" y="16535"/>
                </a:cubicBezTo>
              </a:path>
            </a:pathLst>
          </a:custGeom>
          <a:noFill/>
          <a:ln cap="flat" cmpd="sng" w="38100">
            <a:solidFill>
              <a:srgbClr val="666666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/>
        </p:nvSpPr>
        <p:spPr>
          <a:xfrm>
            <a:off x="457200" y="209549"/>
            <a:ext cx="8229600" cy="4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Alguns conceitos: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309750" y="897750"/>
            <a:ext cx="8524500" cy="39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200"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b="1" lang="en-PH" sz="2200">
                <a:latin typeface="Roboto"/>
                <a:ea typeface="Roboto"/>
                <a:cs typeface="Roboto"/>
                <a:sym typeface="Roboto"/>
              </a:rPr>
              <a:t>telerreabilitação</a:t>
            </a:r>
            <a:r>
              <a:rPr lang="en-PH" sz="2200">
                <a:latin typeface="Roboto"/>
                <a:ea typeface="Roboto"/>
                <a:cs typeface="Roboto"/>
                <a:sym typeface="Roboto"/>
              </a:rPr>
              <a:t> entra como um conceito relacionado à </a:t>
            </a:r>
            <a:r>
              <a:rPr b="1" lang="en-PH" sz="2200">
                <a:latin typeface="Roboto"/>
                <a:ea typeface="Roboto"/>
                <a:cs typeface="Roboto"/>
                <a:sym typeface="Roboto"/>
              </a:rPr>
              <a:t>telefisioterapia</a:t>
            </a:r>
            <a:r>
              <a:rPr lang="en-PH" sz="2200">
                <a:latin typeface="Roboto"/>
                <a:ea typeface="Roboto"/>
                <a:cs typeface="Roboto"/>
                <a:sym typeface="Roboto"/>
              </a:rPr>
              <a:t>, que utiliza meios de comunicação à distância para realizar uma sessão de fisioterapia com exercícios que visem a </a:t>
            </a:r>
            <a:r>
              <a:rPr b="1" lang="en-PH" sz="2200">
                <a:latin typeface="Roboto"/>
                <a:ea typeface="Roboto"/>
                <a:cs typeface="Roboto"/>
                <a:sym typeface="Roboto"/>
              </a:rPr>
              <a:t>reabilitação</a:t>
            </a:r>
            <a:r>
              <a:rPr lang="en-PH" sz="2200">
                <a:latin typeface="Roboto"/>
                <a:ea typeface="Roboto"/>
                <a:cs typeface="Roboto"/>
                <a:sym typeface="Roboto"/>
              </a:rPr>
              <a:t> do paciente [Santos and Pinheiro 2016]. 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309750" y="2891025"/>
            <a:ext cx="8524500" cy="19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200"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b="1" lang="en-PH" sz="2200">
                <a:latin typeface="Roboto"/>
                <a:ea typeface="Roboto"/>
                <a:cs typeface="Roboto"/>
                <a:sym typeface="Roboto"/>
              </a:rPr>
              <a:t>WebRTC</a:t>
            </a:r>
            <a:r>
              <a:rPr lang="en-PH" sz="2200">
                <a:latin typeface="Roboto"/>
                <a:ea typeface="Roboto"/>
                <a:cs typeface="Roboto"/>
                <a:sym typeface="Roboto"/>
              </a:rPr>
              <a:t> é </a:t>
            </a:r>
            <a:r>
              <a:rPr lang="en-PH" sz="2200">
                <a:latin typeface="Roboto"/>
                <a:ea typeface="Roboto"/>
                <a:cs typeface="Roboto"/>
                <a:sym typeface="Roboto"/>
              </a:rPr>
              <a:t>uma tecnologia </a:t>
            </a:r>
            <a:r>
              <a:rPr i="1" lang="en-PH" sz="2200">
                <a:latin typeface="Roboto"/>
                <a:ea typeface="Roboto"/>
                <a:cs typeface="Roboto"/>
                <a:sym typeface="Roboto"/>
              </a:rPr>
              <a:t>web</a:t>
            </a:r>
            <a:r>
              <a:rPr lang="en-PH" sz="2200">
                <a:latin typeface="Roboto"/>
                <a:ea typeface="Roboto"/>
                <a:cs typeface="Roboto"/>
                <a:sym typeface="Roboto"/>
              </a:rPr>
              <a:t> (uma série de APIs) que, utilizando conexões </a:t>
            </a:r>
            <a:r>
              <a:rPr i="1" lang="en-PH" sz="2200">
                <a:latin typeface="Roboto"/>
                <a:ea typeface="Roboto"/>
                <a:cs typeface="Roboto"/>
                <a:sym typeface="Roboto"/>
              </a:rPr>
              <a:t>peer-to-peer</a:t>
            </a:r>
            <a:r>
              <a:rPr lang="en-PH" sz="2200">
                <a:latin typeface="Roboto"/>
                <a:ea typeface="Roboto"/>
                <a:cs typeface="Roboto"/>
                <a:sym typeface="Roboto"/>
              </a:rPr>
              <a:t>, permite que aplicações ou navegadores realizem chamadas com </a:t>
            </a:r>
            <a:r>
              <a:rPr i="1" lang="en-PH" sz="2200">
                <a:latin typeface="Roboto"/>
                <a:ea typeface="Roboto"/>
                <a:cs typeface="Roboto"/>
                <a:sym typeface="Roboto"/>
              </a:rPr>
              <a:t>streams</a:t>
            </a:r>
            <a:r>
              <a:rPr lang="en-PH" sz="2200"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b="1" lang="en-PH" sz="2200">
                <a:latin typeface="Roboto"/>
                <a:ea typeface="Roboto"/>
                <a:cs typeface="Roboto"/>
                <a:sym typeface="Roboto"/>
              </a:rPr>
              <a:t>áudio</a:t>
            </a:r>
            <a:r>
              <a:rPr lang="en-PH" sz="2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-PH" sz="2200">
                <a:latin typeface="Roboto"/>
                <a:ea typeface="Roboto"/>
                <a:cs typeface="Roboto"/>
                <a:sym typeface="Roboto"/>
              </a:rPr>
              <a:t>vídeo </a:t>
            </a:r>
            <a:r>
              <a:rPr lang="en-PH" sz="2200"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="1" lang="en-PH" sz="2200">
                <a:latin typeface="Roboto"/>
                <a:ea typeface="Roboto"/>
                <a:cs typeface="Roboto"/>
                <a:sym typeface="Roboto"/>
              </a:rPr>
              <a:t> dados</a:t>
            </a:r>
            <a:r>
              <a:rPr lang="en-PH" sz="2200">
                <a:latin typeface="Roboto"/>
                <a:ea typeface="Roboto"/>
                <a:cs typeface="Roboto"/>
                <a:sym typeface="Roboto"/>
              </a:rPr>
              <a:t>.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200">
                <a:latin typeface="Roboto"/>
                <a:ea typeface="Roboto"/>
                <a:cs typeface="Roboto"/>
                <a:sym typeface="Roboto"/>
              </a:rPr>
              <a:t>MediaStream, PeerConnection e DataChannel</a:t>
            </a:r>
            <a:endParaRPr b="1" sz="2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4"/>
          <p:cNvPicPr preferRelativeResize="0"/>
          <p:nvPr/>
        </p:nvPicPr>
        <p:blipFill rotWithShape="1">
          <a:blip r:embed="rId3">
            <a:alphaModFix/>
          </a:blip>
          <a:srcRect b="0" l="3923" r="10024" t="0"/>
          <a:stretch/>
        </p:blipFill>
        <p:spPr>
          <a:xfrm>
            <a:off x="0" y="-48500"/>
            <a:ext cx="9144000" cy="55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4817425" y="384525"/>
            <a:ext cx="4070400" cy="14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90500" lvl="0" marL="342900" rtl="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lang="en-PH" sz="2800">
                <a:solidFill>
                  <a:srgbClr val="FFFFFF"/>
                </a:solidFill>
                <a:highlight>
                  <a:srgbClr val="005CA1"/>
                </a:highlight>
              </a:rPr>
              <a:t>Realidade </a:t>
            </a:r>
            <a:endParaRPr b="1" sz="2800">
              <a:solidFill>
                <a:srgbClr val="FFFFFF"/>
              </a:solidFill>
              <a:highlight>
                <a:srgbClr val="005CA1"/>
              </a:highlight>
            </a:endParaRPr>
          </a:p>
          <a:p>
            <a:pPr indent="-190500" lvl="0" marL="342900" rtl="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lang="en-PH" sz="6000">
                <a:solidFill>
                  <a:srgbClr val="FFFFFF"/>
                </a:solidFill>
                <a:highlight>
                  <a:srgbClr val="005CA1"/>
                </a:highlight>
              </a:rPr>
              <a:t>Virtual</a:t>
            </a:r>
            <a:endParaRPr b="1" sz="6000">
              <a:solidFill>
                <a:srgbClr val="FFFFFF"/>
              </a:solidFill>
              <a:highlight>
                <a:srgbClr val="005CA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4"/>
          <p:cNvSpPr txBox="1"/>
          <p:nvPr/>
        </p:nvSpPr>
        <p:spPr>
          <a:xfrm>
            <a:off x="268000" y="3618050"/>
            <a:ext cx="8472900" cy="12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000">
                <a:solidFill>
                  <a:srgbClr val="FFFFFF"/>
                </a:solidFill>
                <a:highlight>
                  <a:srgbClr val="005CA1"/>
                </a:highlight>
                <a:latin typeface="Roboto"/>
                <a:ea typeface="Roboto"/>
                <a:cs typeface="Roboto"/>
                <a:sym typeface="Roboto"/>
              </a:rPr>
              <a:t>“Realidade Virtual é definida como um ambiente digital</a:t>
            </a:r>
            <a:endParaRPr b="1" sz="2000">
              <a:solidFill>
                <a:srgbClr val="FFFFFF"/>
              </a:solidFill>
              <a:highlight>
                <a:srgbClr val="005CA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000">
                <a:solidFill>
                  <a:srgbClr val="FFFFFF"/>
                </a:solidFill>
                <a:highlight>
                  <a:srgbClr val="005CA1"/>
                </a:highlight>
                <a:latin typeface="Roboto"/>
                <a:ea typeface="Roboto"/>
                <a:cs typeface="Roboto"/>
                <a:sym typeface="Roboto"/>
              </a:rPr>
              <a:t>gerado computacionalmente que pode ser experienciado de forma interativa como se fosse real. ” </a:t>
            </a:r>
            <a:endParaRPr b="1" sz="2000">
              <a:solidFill>
                <a:srgbClr val="FFFFFF"/>
              </a:solidFill>
              <a:highlight>
                <a:srgbClr val="005CA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000">
                <a:solidFill>
                  <a:srgbClr val="FFFFFF"/>
                </a:solidFill>
                <a:highlight>
                  <a:srgbClr val="005CA1"/>
                </a:highlight>
                <a:latin typeface="Roboto"/>
                <a:ea typeface="Roboto"/>
                <a:cs typeface="Roboto"/>
                <a:sym typeface="Roboto"/>
              </a:rPr>
              <a:t>Jerald, 2015</a:t>
            </a:r>
            <a:endParaRPr b="1" sz="2000">
              <a:solidFill>
                <a:srgbClr val="FFFFFF"/>
              </a:solidFill>
              <a:highlight>
                <a:srgbClr val="005CA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123025" y="3654450"/>
            <a:ext cx="4070400" cy="14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lang="en-PH" sz="2800">
                <a:solidFill>
                  <a:srgbClr val="FFFFFF"/>
                </a:solidFill>
                <a:highlight>
                  <a:srgbClr val="005CA1"/>
                </a:highlight>
              </a:rPr>
              <a:t>Serious </a:t>
            </a:r>
            <a:endParaRPr b="1" sz="2800">
              <a:solidFill>
                <a:srgbClr val="FFFFFF"/>
              </a:solidFill>
              <a:highlight>
                <a:srgbClr val="005CA1"/>
              </a:highlight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lang="en-PH" sz="6000">
                <a:solidFill>
                  <a:srgbClr val="FFFFFF"/>
                </a:solidFill>
                <a:highlight>
                  <a:srgbClr val="005CA1"/>
                </a:highlight>
              </a:rPr>
              <a:t>Games</a:t>
            </a:r>
            <a:endParaRPr b="1" sz="6000">
              <a:solidFill>
                <a:srgbClr val="FFFFFF"/>
              </a:solidFill>
              <a:highlight>
                <a:srgbClr val="005CA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335550" y="154675"/>
            <a:ext cx="8472900" cy="12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000">
                <a:solidFill>
                  <a:srgbClr val="FFFFFF"/>
                </a:solidFill>
                <a:highlight>
                  <a:srgbClr val="005CA1"/>
                </a:highlight>
                <a:latin typeface="Roboto"/>
                <a:ea typeface="Roboto"/>
                <a:cs typeface="Roboto"/>
                <a:sym typeface="Roboto"/>
              </a:rPr>
              <a:t>“Trata-se de uma categoria particular de jogos utilizados com propósito</a:t>
            </a:r>
            <a:endParaRPr b="1" sz="2000">
              <a:solidFill>
                <a:srgbClr val="FFFFFF"/>
              </a:solidFill>
              <a:highlight>
                <a:srgbClr val="005CA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000">
                <a:solidFill>
                  <a:srgbClr val="FFFFFF"/>
                </a:solidFill>
                <a:highlight>
                  <a:srgbClr val="005CA1"/>
                </a:highlight>
                <a:latin typeface="Roboto"/>
                <a:ea typeface="Roboto"/>
                <a:cs typeface="Roboto"/>
                <a:sym typeface="Roboto"/>
              </a:rPr>
              <a:t>de ensino-aprendizagem ou treinamento e não apenas de entretenimento, embora apresentem</a:t>
            </a:r>
            <a:endParaRPr b="1" sz="2000">
              <a:solidFill>
                <a:srgbClr val="FFFFFF"/>
              </a:solidFill>
              <a:highlight>
                <a:srgbClr val="005CA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000">
                <a:solidFill>
                  <a:srgbClr val="FFFFFF"/>
                </a:solidFill>
                <a:highlight>
                  <a:srgbClr val="005CA1"/>
                </a:highlight>
                <a:latin typeface="Roboto"/>
                <a:ea typeface="Roboto"/>
                <a:cs typeface="Roboto"/>
                <a:sym typeface="Roboto"/>
              </a:rPr>
              <a:t>um viés de entretenimento inerente à realidade de um jogo. ”</a:t>
            </a:r>
            <a:endParaRPr b="1" sz="2000">
              <a:solidFill>
                <a:srgbClr val="FFFFFF"/>
              </a:solidFill>
              <a:highlight>
                <a:srgbClr val="005CA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/>
        </p:nvSpPr>
        <p:spPr>
          <a:xfrm>
            <a:off x="457200" y="133299"/>
            <a:ext cx="8229600" cy="4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Arquitetura do Exergame</a:t>
            </a:r>
            <a:endParaRPr b="1" sz="29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975" y="839974"/>
            <a:ext cx="7241252" cy="424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/>
        </p:nvSpPr>
        <p:spPr>
          <a:xfrm>
            <a:off x="457200" y="133299"/>
            <a:ext cx="8229600" cy="4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Arquitetura do Exergame</a:t>
            </a:r>
            <a:endParaRPr b="1" sz="29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32124"/>
            <a:ext cx="8839201" cy="3555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/>
        </p:nvSpPr>
        <p:spPr>
          <a:xfrm>
            <a:off x="457200" y="133299"/>
            <a:ext cx="8229600" cy="4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Protótipo</a:t>
            </a:r>
            <a:endParaRPr b="1" sz="29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7" name="Google Shape;17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92474"/>
            <a:ext cx="8839200" cy="3888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/>
        </p:nvSpPr>
        <p:spPr>
          <a:xfrm>
            <a:off x="457200" y="133299"/>
            <a:ext cx="8229600" cy="4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Protótipo</a:t>
            </a:r>
            <a:endParaRPr b="1" sz="29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3" name="Google Shape;1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13" y="1629000"/>
            <a:ext cx="8969776" cy="24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/>
        </p:nvSpPr>
        <p:spPr>
          <a:xfrm>
            <a:off x="457200" y="133299"/>
            <a:ext cx="8229600" cy="4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Avaliação</a:t>
            </a:r>
            <a:r>
              <a:rPr b="1" lang="en-PH" sz="2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do Exergame</a:t>
            </a:r>
            <a:endParaRPr b="1" sz="29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0"/>
          <p:cNvSpPr txBox="1"/>
          <p:nvPr/>
        </p:nvSpPr>
        <p:spPr>
          <a:xfrm>
            <a:off x="292025" y="1254700"/>
            <a:ext cx="82827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❖"/>
            </a:pPr>
            <a:r>
              <a:rPr lang="en-PH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Questionário A (validação dos problemas encontrados na literatura).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❖"/>
            </a:pPr>
            <a:r>
              <a:rPr lang="en-PH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Leitura de uma documentação explicativa.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❖"/>
            </a:pPr>
            <a:r>
              <a:rPr lang="en-PH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Vídeo de demonstração.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❖"/>
            </a:pPr>
            <a:r>
              <a:rPr lang="en-PH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Questionário B (Avaliação da solução).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/>
        </p:nvSpPr>
        <p:spPr>
          <a:xfrm>
            <a:off x="457200" y="133299"/>
            <a:ext cx="8229600" cy="4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Avaliação do Exergame</a:t>
            </a:r>
            <a:endParaRPr b="1" sz="29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5" name="Google Shape;19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150" y="2897525"/>
            <a:ext cx="4914850" cy="1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500" y="1255849"/>
            <a:ext cx="822960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299300" y="2125250"/>
            <a:ext cx="8609700" cy="53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4100"/>
              <a:t>Considerações Finais...</a:t>
            </a:r>
            <a:endParaRPr b="1" sz="4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ctrTitle"/>
          </p:nvPr>
        </p:nvSpPr>
        <p:spPr>
          <a:xfrm>
            <a:off x="470875" y="1052550"/>
            <a:ext cx="6644400" cy="1720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PH" sz="3500">
                <a:latin typeface="Roboto"/>
                <a:ea typeface="Roboto"/>
                <a:cs typeface="Roboto"/>
                <a:sym typeface="Roboto"/>
              </a:rPr>
              <a:t>Exergame com Cicloergômetro para a Reabilitação de Pacientes em Tempos de COVID-19</a:t>
            </a:r>
            <a:endParaRPr sz="3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33"/>
          <p:cNvSpPr txBox="1"/>
          <p:nvPr>
            <p:ph idx="1" type="subTitle"/>
          </p:nvPr>
        </p:nvSpPr>
        <p:spPr>
          <a:xfrm>
            <a:off x="511775" y="3446900"/>
            <a:ext cx="7848600" cy="158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i="1" lang="en-PH" sz="2100">
                <a:latin typeface="Roboto"/>
                <a:ea typeface="Roboto"/>
                <a:cs typeface="Roboto"/>
                <a:sym typeface="Roboto"/>
              </a:rPr>
              <a:t>Carlos Henrique Rorato Souza</a:t>
            </a:r>
            <a:endParaRPr i="1" sz="21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i="1" lang="en-PH" sz="2100">
                <a:latin typeface="Roboto"/>
                <a:ea typeface="Roboto"/>
                <a:cs typeface="Roboto"/>
                <a:sym typeface="Roboto"/>
              </a:rPr>
              <a:t>Douglas Battisti</a:t>
            </a:r>
            <a:endParaRPr i="1" sz="21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i="1" lang="en-PH" sz="2100">
                <a:latin typeface="Roboto"/>
                <a:ea typeface="Roboto"/>
                <a:cs typeface="Roboto"/>
                <a:sym typeface="Roboto"/>
              </a:rPr>
              <a:t>Luciana de Oliveira Berretta</a:t>
            </a:r>
            <a:endParaRPr i="1" sz="21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i="1" lang="en-PH" sz="2100">
                <a:latin typeface="Roboto"/>
                <a:ea typeface="Roboto"/>
                <a:cs typeface="Roboto"/>
                <a:sym typeface="Roboto"/>
              </a:rPr>
              <a:t>Sérgio Teixeira de Carvalho</a:t>
            </a:r>
            <a:endParaRPr i="1" sz="2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