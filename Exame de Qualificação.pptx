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5143500" cx="9144000"/>
  <p:notesSz cx="6858000" cy="9144000"/>
  <p:embeddedFontLst>
    <p:embeddedFont>
      <p:font typeface="Roboto Black"/>
      <p:bold r:id="rId30"/>
      <p:boldItalic r:id="rId31"/>
    </p:embeddedFont>
    <p:embeddedFont>
      <p:font typeface="Raleway"/>
      <p:regular r:id="rId32"/>
      <p:bold r:id="rId33"/>
      <p:italic r:id="rId34"/>
      <p:boldItalic r:id="rId35"/>
    </p:embeddedFont>
    <p:embeddedFont>
      <p:font typeface="Roboto Thin"/>
      <p:regular r:id="rId36"/>
      <p:bold r:id="rId37"/>
      <p:italic r:id="rId38"/>
      <p:boldItalic r:id="rId39"/>
    </p:embeddedFont>
    <p:embeddedFont>
      <p:font typeface="Roboto"/>
      <p:regular r:id="rId40"/>
      <p:bold r:id="rId41"/>
      <p:italic r:id="rId42"/>
      <p:boldItalic r:id="rId43"/>
    </p:embeddedFont>
    <p:embeddedFont>
      <p:font typeface="Raleway Medium"/>
      <p:regular r:id="rId44"/>
      <p:bold r:id="rId45"/>
      <p:italic r:id="rId46"/>
      <p:boldItalic r:id="rId47"/>
    </p:embeddedFont>
    <p:embeddedFont>
      <p:font typeface="Roboto Light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44" Type="http://schemas.openxmlformats.org/officeDocument/2006/relationships/font" Target="fonts/RalewayMedium-regular.fntdata"/><Relationship Id="rId43" Type="http://schemas.openxmlformats.org/officeDocument/2006/relationships/font" Target="fonts/Roboto-boldItalic.fntdata"/><Relationship Id="rId46" Type="http://schemas.openxmlformats.org/officeDocument/2006/relationships/font" Target="fonts/RalewayMedium-italic.fntdata"/><Relationship Id="rId45" Type="http://schemas.openxmlformats.org/officeDocument/2006/relationships/font" Target="fonts/Raleway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RobotoLight-regular.fntdata"/><Relationship Id="rId47" Type="http://schemas.openxmlformats.org/officeDocument/2006/relationships/font" Target="fonts/RalewayMedium-boldItalic.fntdata"/><Relationship Id="rId49" Type="http://schemas.openxmlformats.org/officeDocument/2006/relationships/font" Target="fonts/RobotoLigh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Black-boldItalic.fntdata"/><Relationship Id="rId30" Type="http://schemas.openxmlformats.org/officeDocument/2006/relationships/font" Target="fonts/RobotoBlack-bold.fntdata"/><Relationship Id="rId33" Type="http://schemas.openxmlformats.org/officeDocument/2006/relationships/font" Target="fonts/Raleway-bold.fntdata"/><Relationship Id="rId32" Type="http://schemas.openxmlformats.org/officeDocument/2006/relationships/font" Target="fonts/Raleway-regular.fntdata"/><Relationship Id="rId35" Type="http://schemas.openxmlformats.org/officeDocument/2006/relationships/font" Target="fonts/Raleway-boldItalic.fntdata"/><Relationship Id="rId34" Type="http://schemas.openxmlformats.org/officeDocument/2006/relationships/font" Target="fonts/Raleway-italic.fntdata"/><Relationship Id="rId37" Type="http://schemas.openxmlformats.org/officeDocument/2006/relationships/font" Target="fonts/RobotoThin-bold.fntdata"/><Relationship Id="rId36" Type="http://schemas.openxmlformats.org/officeDocument/2006/relationships/font" Target="fonts/RobotoThin-regular.fntdata"/><Relationship Id="rId39" Type="http://schemas.openxmlformats.org/officeDocument/2006/relationships/font" Target="fonts/RobotoThin-boldItalic.fntdata"/><Relationship Id="rId38" Type="http://schemas.openxmlformats.org/officeDocument/2006/relationships/font" Target="fonts/RobotoThin-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RobotoLight-boldItalic.fntdata"/><Relationship Id="rId50" Type="http://schemas.openxmlformats.org/officeDocument/2006/relationships/font" Target="fonts/RobotoLigh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28594a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28594a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dbf22b75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dbf22b75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Problematizar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658f702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658f702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dbf22b756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dbf22b756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Resumir cada um em uma linha.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dbff7488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dbff7488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dbff74882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dbff74882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dbff74882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dbff74882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Interação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bff74882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bff74882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dbff74882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dbff74882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dbff74882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dbff74882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dbff74882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dbff74882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dff0767c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dff0767c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dff0767cd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dff0767cd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dff0767cd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dff0767cd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dff0767cd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dff0767cd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ff0767cd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ff0767cd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dff0767cd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dff0767cd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dff0767cd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dff0767cd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dff0767cd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dff0767cd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dff0767cd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dff0767cd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55e249532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55e249532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dff0767cd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dff0767cd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dff0767cd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dff0767cd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dff0767cd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dff0767cd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55e249532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55e249532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563725" y="1218900"/>
            <a:ext cx="6303000" cy="13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97525" y="2530375"/>
            <a:ext cx="63030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913575" y="4698625"/>
            <a:ext cx="3230550" cy="445650"/>
          </a:xfrm>
          <a:custGeom>
            <a:rect b="b" l="l" r="r" t="t"/>
            <a:pathLst>
              <a:path extrusionOk="0" h="17826" w="129222">
                <a:moveTo>
                  <a:pt x="129222" y="17795"/>
                </a:moveTo>
                <a:lnTo>
                  <a:pt x="0" y="17826"/>
                </a:lnTo>
                <a:lnTo>
                  <a:pt x="9278" y="0"/>
                </a:lnTo>
                <a:close/>
              </a:path>
            </a:pathLst>
          </a:custGeom>
          <a:solidFill>
            <a:srgbClr val="D7ECF8"/>
          </a:solidFill>
          <a:ln>
            <a:noFill/>
          </a:ln>
        </p:spPr>
      </p:sp>
      <p:sp>
        <p:nvSpPr>
          <p:cNvPr id="15" name="Google Shape;15;p2"/>
          <p:cNvSpPr/>
          <p:nvPr/>
        </p:nvSpPr>
        <p:spPr>
          <a:xfrm>
            <a:off x="-850" y="3540100"/>
            <a:ext cx="6184100" cy="1157675"/>
          </a:xfrm>
          <a:custGeom>
            <a:rect b="b" l="l" r="r" t="t"/>
            <a:pathLst>
              <a:path extrusionOk="0" h="46307" w="247364">
                <a:moveTo>
                  <a:pt x="34" y="9423"/>
                </a:moveTo>
                <a:lnTo>
                  <a:pt x="245855" y="46307"/>
                </a:lnTo>
                <a:lnTo>
                  <a:pt x="247364" y="43457"/>
                </a:lnTo>
                <a:lnTo>
                  <a:pt x="0" y="0"/>
                </a:lnTo>
                <a:close/>
              </a:path>
            </a:pathLst>
          </a:custGeom>
          <a:solidFill>
            <a:srgbClr val="81C2EA"/>
          </a:solidFill>
          <a:ln>
            <a:noFill/>
          </a:ln>
        </p:spPr>
      </p:sp>
      <p:sp>
        <p:nvSpPr>
          <p:cNvPr id="16" name="Google Shape;16;p2"/>
          <p:cNvSpPr txBox="1"/>
          <p:nvPr/>
        </p:nvSpPr>
        <p:spPr>
          <a:xfrm>
            <a:off x="302550" y="251800"/>
            <a:ext cx="70227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latin typeface="Roboto Black"/>
                <a:ea typeface="Roboto Black"/>
                <a:cs typeface="Roboto Black"/>
                <a:sym typeface="Roboto Black"/>
              </a:rPr>
              <a:t>INSTITUTO DE INFORMÁTICA</a:t>
            </a:r>
            <a:endParaRPr b="0" sz="1000"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/>
              <a:t>Universidade Federal de Goiás</a:t>
            </a:r>
            <a:endParaRPr b="0" sz="1000"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002" y="4300976"/>
            <a:ext cx="1675950" cy="56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9999" y="3911712"/>
            <a:ext cx="1546001" cy="7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tion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rgbClr val="005CA1"/>
                </a:solidFill>
              </a:defRPr>
            </a:lvl1pPr>
            <a:lvl2pPr lvl="1">
              <a:buNone/>
              <a:defRPr b="1">
                <a:solidFill>
                  <a:srgbClr val="005CA1"/>
                </a:solidFill>
              </a:defRPr>
            </a:lvl2pPr>
            <a:lvl3pPr lvl="2">
              <a:buNone/>
              <a:defRPr b="1">
                <a:solidFill>
                  <a:srgbClr val="005CA1"/>
                </a:solidFill>
              </a:defRPr>
            </a:lvl3pPr>
            <a:lvl4pPr lvl="3">
              <a:buNone/>
              <a:defRPr b="1">
                <a:solidFill>
                  <a:srgbClr val="005CA1"/>
                </a:solidFill>
              </a:defRPr>
            </a:lvl4pPr>
            <a:lvl5pPr lvl="4">
              <a:buNone/>
              <a:defRPr b="1">
                <a:solidFill>
                  <a:srgbClr val="005CA1"/>
                </a:solidFill>
              </a:defRPr>
            </a:lvl5pPr>
            <a:lvl6pPr lvl="5">
              <a:buNone/>
              <a:defRPr b="1">
                <a:solidFill>
                  <a:srgbClr val="005CA1"/>
                </a:solidFill>
              </a:defRPr>
            </a:lvl6pPr>
            <a:lvl7pPr lvl="6">
              <a:buNone/>
              <a:defRPr b="1">
                <a:solidFill>
                  <a:srgbClr val="005CA1"/>
                </a:solidFill>
              </a:defRPr>
            </a:lvl7pPr>
            <a:lvl8pPr lvl="7">
              <a:buNone/>
              <a:defRPr b="1">
                <a:solidFill>
                  <a:srgbClr val="005CA1"/>
                </a:solidFill>
              </a:defRPr>
            </a:lvl8pPr>
            <a:lvl9pPr lvl="8">
              <a:buNone/>
              <a:defRPr b="1">
                <a:solidFill>
                  <a:srgbClr val="005CA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-600" y="-1200"/>
            <a:ext cx="9157100" cy="5154875"/>
          </a:xfrm>
          <a:custGeom>
            <a:rect b="b" l="l" r="r" t="t"/>
            <a:pathLst>
              <a:path extrusionOk="0" h="206195" w="366284">
                <a:moveTo>
                  <a:pt x="0" y="205812"/>
                </a:moveTo>
                <a:lnTo>
                  <a:pt x="0" y="37553"/>
                </a:lnTo>
                <a:lnTo>
                  <a:pt x="365784" y="0"/>
                </a:lnTo>
                <a:lnTo>
                  <a:pt x="366284" y="2061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50" y="4500"/>
            <a:ext cx="914684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-650" y="31275"/>
            <a:ext cx="8944500" cy="915275"/>
          </a:xfrm>
          <a:custGeom>
            <a:rect b="b" l="l" r="r" t="t"/>
            <a:pathLst>
              <a:path extrusionOk="0" h="36611" w="357780">
                <a:moveTo>
                  <a:pt x="2" y="36611"/>
                </a:moveTo>
                <a:lnTo>
                  <a:pt x="0" y="29328"/>
                </a:lnTo>
                <a:lnTo>
                  <a:pt x="346522" y="500"/>
                </a:lnTo>
                <a:lnTo>
                  <a:pt x="3577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" name="Google Shape;24;p3"/>
          <p:cNvSpPr/>
          <p:nvPr/>
        </p:nvSpPr>
        <p:spPr>
          <a:xfrm rot="10800000">
            <a:off x="8142000" y="-25"/>
            <a:ext cx="1002000" cy="881400"/>
          </a:xfrm>
          <a:prstGeom prst="rtTriangle">
            <a:avLst/>
          </a:prstGeom>
          <a:solidFill>
            <a:srgbClr val="81C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 rot="10800000">
            <a:off x="8141988" y="-99"/>
            <a:ext cx="1002000" cy="734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00" y="134912"/>
            <a:ext cx="471450" cy="46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/>
          <p:nvPr>
            <p:ph type="title"/>
          </p:nvPr>
        </p:nvSpPr>
        <p:spPr>
          <a:xfrm>
            <a:off x="1157075" y="1450825"/>
            <a:ext cx="5979300" cy="23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Georgia"/>
              <a:buNone/>
              <a:defRPr b="0" i="1" sz="3000"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1565854" y="4042972"/>
            <a:ext cx="6460500" cy="59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9" name="Google Shape;29;p3"/>
          <p:cNvSpPr txBox="1"/>
          <p:nvPr/>
        </p:nvSpPr>
        <p:spPr>
          <a:xfrm>
            <a:off x="7310850" y="421150"/>
            <a:ext cx="1218600" cy="11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0">
                <a:solidFill>
                  <a:schemeClr val="dk2"/>
                </a:solidFill>
              </a:rPr>
              <a:t>”</a:t>
            </a:r>
            <a:endParaRPr sz="20000">
              <a:solidFill>
                <a:schemeClr val="dk2"/>
              </a:solidFill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7374750" y="3992875"/>
            <a:ext cx="575400" cy="501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right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-600" y="-600"/>
            <a:ext cx="9145200" cy="5144700"/>
          </a:xfrm>
          <a:custGeom>
            <a:rect b="b" l="l" r="r" t="t"/>
            <a:pathLst>
              <a:path extrusionOk="0" h="205788" w="365808">
                <a:moveTo>
                  <a:pt x="24" y="0"/>
                </a:moveTo>
                <a:lnTo>
                  <a:pt x="306348" y="24"/>
                </a:lnTo>
                <a:lnTo>
                  <a:pt x="365808" y="205764"/>
                </a:lnTo>
                <a:lnTo>
                  <a:pt x="0" y="2057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33" name="Google Shape;3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00" y="0"/>
            <a:ext cx="91452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311700" y="1152475"/>
            <a:ext cx="696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" name="Google Shape;36;p4"/>
          <p:cNvSpPr/>
          <p:nvPr/>
        </p:nvSpPr>
        <p:spPr>
          <a:xfrm>
            <a:off x="7650950" y="0"/>
            <a:ext cx="1381725" cy="4706550"/>
          </a:xfrm>
          <a:custGeom>
            <a:rect b="b" l="l" r="r" t="t"/>
            <a:pathLst>
              <a:path extrusionOk="0" h="188262" w="55269">
                <a:moveTo>
                  <a:pt x="5953" y="0"/>
                </a:moveTo>
                <a:lnTo>
                  <a:pt x="55269" y="188262"/>
                </a:lnTo>
                <a:lnTo>
                  <a:pt x="54507" y="18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" name="Google Shape;37;p4"/>
          <p:cNvSpPr/>
          <p:nvPr/>
        </p:nvSpPr>
        <p:spPr>
          <a:xfrm flipH="1">
            <a:off x="8259600" y="4081536"/>
            <a:ext cx="884400" cy="1062000"/>
          </a:xfrm>
          <a:prstGeom prst="rtTriangle">
            <a:avLst/>
          </a:prstGeom>
          <a:solidFill>
            <a:srgbClr val="81C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 flipH="1">
            <a:off x="8259589" y="4259122"/>
            <a:ext cx="884400" cy="8844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rgbClr val="005CA1"/>
                </a:solidFill>
              </a:defRPr>
            </a:lvl1pPr>
            <a:lvl2pPr lvl="1">
              <a:buNone/>
              <a:defRPr b="1">
                <a:solidFill>
                  <a:srgbClr val="005CA1"/>
                </a:solidFill>
              </a:defRPr>
            </a:lvl2pPr>
            <a:lvl3pPr lvl="2">
              <a:buNone/>
              <a:defRPr b="1">
                <a:solidFill>
                  <a:srgbClr val="005CA1"/>
                </a:solidFill>
              </a:defRPr>
            </a:lvl3pPr>
            <a:lvl4pPr lvl="3">
              <a:buNone/>
              <a:defRPr b="1">
                <a:solidFill>
                  <a:srgbClr val="005CA1"/>
                </a:solidFill>
              </a:defRPr>
            </a:lvl4pPr>
            <a:lvl5pPr lvl="4">
              <a:buNone/>
              <a:defRPr b="1">
                <a:solidFill>
                  <a:srgbClr val="005CA1"/>
                </a:solidFill>
              </a:defRPr>
            </a:lvl5pPr>
            <a:lvl6pPr lvl="5">
              <a:buNone/>
              <a:defRPr b="1">
                <a:solidFill>
                  <a:srgbClr val="005CA1"/>
                </a:solidFill>
              </a:defRPr>
            </a:lvl6pPr>
            <a:lvl7pPr lvl="6">
              <a:buNone/>
              <a:defRPr b="1">
                <a:solidFill>
                  <a:srgbClr val="005CA1"/>
                </a:solidFill>
              </a:defRPr>
            </a:lvl7pPr>
            <a:lvl8pPr lvl="7">
              <a:buNone/>
              <a:defRPr b="1">
                <a:solidFill>
                  <a:srgbClr val="005CA1"/>
                </a:solidFill>
              </a:defRPr>
            </a:lvl8pPr>
            <a:lvl9pPr lvl="8">
              <a:buNone/>
              <a:defRPr b="1">
                <a:solidFill>
                  <a:srgbClr val="005CA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" name="Google Shape;4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9500" y="234345"/>
            <a:ext cx="618975" cy="60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-800" y="-9075"/>
            <a:ext cx="9157300" cy="5154875"/>
          </a:xfrm>
          <a:custGeom>
            <a:rect b="b" l="l" r="r" t="t"/>
            <a:pathLst>
              <a:path extrusionOk="0" h="206195" w="366292">
                <a:moveTo>
                  <a:pt x="8" y="383"/>
                </a:moveTo>
                <a:lnTo>
                  <a:pt x="0" y="172858"/>
                </a:lnTo>
                <a:lnTo>
                  <a:pt x="365792" y="206195"/>
                </a:lnTo>
                <a:lnTo>
                  <a:pt x="36629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43" name="Google Shape;43;p5"/>
          <p:cNvPicPr preferRelativeResize="0"/>
          <p:nvPr/>
        </p:nvPicPr>
        <p:blipFill rotWithShape="1">
          <a:blip r:embed="rId2">
            <a:alphaModFix amt="46000"/>
          </a:blip>
          <a:srcRect b="0" l="0" r="0" t="1234"/>
          <a:stretch/>
        </p:blipFill>
        <p:spPr>
          <a:xfrm flipH="1" rot="10800000">
            <a:off x="-650" y="57871"/>
            <a:ext cx="9146849" cy="508562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body"/>
          </p:nvPr>
        </p:nvSpPr>
        <p:spPr>
          <a:xfrm>
            <a:off x="624850" y="1447025"/>
            <a:ext cx="3611100" cy="24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2" type="body"/>
          </p:nvPr>
        </p:nvSpPr>
        <p:spPr>
          <a:xfrm>
            <a:off x="4832400" y="1447075"/>
            <a:ext cx="3686700" cy="24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7" name="Google Shape;47;p5"/>
          <p:cNvSpPr/>
          <p:nvPr/>
        </p:nvSpPr>
        <p:spPr>
          <a:xfrm>
            <a:off x="-600" y="4269800"/>
            <a:ext cx="8944450" cy="845050"/>
          </a:xfrm>
          <a:custGeom>
            <a:rect b="b" l="l" r="r" t="t"/>
            <a:pathLst>
              <a:path extrusionOk="0" h="33802" w="357778">
                <a:moveTo>
                  <a:pt x="24" y="0"/>
                </a:moveTo>
                <a:lnTo>
                  <a:pt x="0" y="5182"/>
                </a:lnTo>
                <a:lnTo>
                  <a:pt x="346520" y="33302"/>
                </a:lnTo>
                <a:lnTo>
                  <a:pt x="357778" y="33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8" name="Google Shape;48;p5"/>
          <p:cNvSpPr/>
          <p:nvPr/>
        </p:nvSpPr>
        <p:spPr>
          <a:xfrm flipH="1">
            <a:off x="8162397" y="4367375"/>
            <a:ext cx="981600" cy="776400"/>
          </a:xfrm>
          <a:prstGeom prst="rtTriangle">
            <a:avLst/>
          </a:prstGeom>
          <a:solidFill>
            <a:srgbClr val="81C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 flipH="1">
            <a:off x="8162400" y="4497174"/>
            <a:ext cx="981600" cy="6465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005CA1"/>
                </a:solidFill>
              </a:defRPr>
            </a:lvl1pPr>
            <a:lvl2pPr lvl="1" rtl="0">
              <a:buNone/>
              <a:defRPr b="1">
                <a:solidFill>
                  <a:srgbClr val="005CA1"/>
                </a:solidFill>
              </a:defRPr>
            </a:lvl2pPr>
            <a:lvl3pPr lvl="2" rtl="0">
              <a:buNone/>
              <a:defRPr b="1">
                <a:solidFill>
                  <a:srgbClr val="005CA1"/>
                </a:solidFill>
              </a:defRPr>
            </a:lvl3pPr>
            <a:lvl4pPr lvl="3" rtl="0">
              <a:buNone/>
              <a:defRPr b="1">
                <a:solidFill>
                  <a:srgbClr val="005CA1"/>
                </a:solidFill>
              </a:defRPr>
            </a:lvl4pPr>
            <a:lvl5pPr lvl="4" rtl="0">
              <a:buNone/>
              <a:defRPr b="1">
                <a:solidFill>
                  <a:srgbClr val="005CA1"/>
                </a:solidFill>
              </a:defRPr>
            </a:lvl5pPr>
            <a:lvl6pPr lvl="5" rtl="0">
              <a:buNone/>
              <a:defRPr b="1">
                <a:solidFill>
                  <a:srgbClr val="005CA1"/>
                </a:solidFill>
              </a:defRPr>
            </a:lvl6pPr>
            <a:lvl7pPr lvl="6" rtl="0">
              <a:buNone/>
              <a:defRPr b="1">
                <a:solidFill>
                  <a:srgbClr val="005CA1"/>
                </a:solidFill>
              </a:defRPr>
            </a:lvl7pPr>
            <a:lvl8pPr lvl="7" rtl="0">
              <a:buNone/>
              <a:defRPr b="1">
                <a:solidFill>
                  <a:srgbClr val="005CA1"/>
                </a:solidFill>
              </a:defRPr>
            </a:lvl8pPr>
            <a:lvl9pPr lvl="8" rtl="0">
              <a:buNone/>
              <a:defRPr b="1">
                <a:solidFill>
                  <a:srgbClr val="005CA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1" name="Google Shape;5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000" y="4589033"/>
            <a:ext cx="430300" cy="42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3817050" y="450150"/>
            <a:ext cx="4783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3502975" y="1582375"/>
            <a:ext cx="98100" cy="18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2049" r="72682" t="0"/>
          <a:stretch/>
        </p:blipFill>
        <p:spPr>
          <a:xfrm>
            <a:off x="0" y="0"/>
            <a:ext cx="23086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(right)">
  <p:cSld name="SECTION_TITLE_AND_DESCRIPTIO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/>
          <p:nvPr/>
        </p:nvSpPr>
        <p:spPr>
          <a:xfrm>
            <a:off x="2743200" y="-125"/>
            <a:ext cx="6400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 txBox="1"/>
          <p:nvPr>
            <p:ph type="title"/>
          </p:nvPr>
        </p:nvSpPr>
        <p:spPr>
          <a:xfrm>
            <a:off x="265500" y="462700"/>
            <a:ext cx="2189100" cy="22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1" type="subTitle"/>
          </p:nvPr>
        </p:nvSpPr>
        <p:spPr>
          <a:xfrm>
            <a:off x="265500" y="2803075"/>
            <a:ext cx="2189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Font typeface="Roboto"/>
              <a:buNone/>
              <a:defRPr sz="21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2" type="body"/>
          </p:nvPr>
        </p:nvSpPr>
        <p:spPr>
          <a:xfrm>
            <a:off x="3105500" y="724075"/>
            <a:ext cx="56709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5CA1"/>
                </a:solidFill>
              </a:defRPr>
            </a:lvl1pPr>
            <a:lvl2pPr lvl="1">
              <a:buNone/>
              <a:defRPr>
                <a:solidFill>
                  <a:srgbClr val="005CA1"/>
                </a:solidFill>
              </a:defRPr>
            </a:lvl2pPr>
            <a:lvl3pPr lvl="2">
              <a:buNone/>
              <a:defRPr>
                <a:solidFill>
                  <a:srgbClr val="005CA1"/>
                </a:solidFill>
              </a:defRPr>
            </a:lvl3pPr>
            <a:lvl4pPr lvl="3">
              <a:buNone/>
              <a:defRPr>
                <a:solidFill>
                  <a:srgbClr val="005CA1"/>
                </a:solidFill>
              </a:defRPr>
            </a:lvl4pPr>
            <a:lvl5pPr lvl="4">
              <a:buNone/>
              <a:defRPr>
                <a:solidFill>
                  <a:srgbClr val="005CA1"/>
                </a:solidFill>
              </a:defRPr>
            </a:lvl5pPr>
            <a:lvl6pPr lvl="5">
              <a:buNone/>
              <a:defRPr>
                <a:solidFill>
                  <a:srgbClr val="005CA1"/>
                </a:solidFill>
              </a:defRPr>
            </a:lvl6pPr>
            <a:lvl7pPr lvl="6">
              <a:buNone/>
              <a:defRPr>
                <a:solidFill>
                  <a:srgbClr val="005CA1"/>
                </a:solidFill>
              </a:defRPr>
            </a:lvl7pPr>
            <a:lvl8pPr lvl="7">
              <a:buNone/>
              <a:defRPr>
                <a:solidFill>
                  <a:srgbClr val="005CA1"/>
                </a:solidFill>
              </a:defRPr>
            </a:lvl8pPr>
            <a:lvl9pPr lvl="8">
              <a:buNone/>
              <a:defRPr>
                <a:solidFill>
                  <a:srgbClr val="005CA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8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1898999" y="-125"/>
            <a:ext cx="181632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(left)">
  <p:cSld name="SECTION_TITLE_AND_DESCRIPTION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0" y="-125"/>
            <a:ext cx="6400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 txBox="1"/>
          <p:nvPr>
            <p:ph type="title"/>
          </p:nvPr>
        </p:nvSpPr>
        <p:spPr>
          <a:xfrm>
            <a:off x="6669800" y="1233175"/>
            <a:ext cx="22134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0" name="Google Shape;70;p9"/>
          <p:cNvSpPr txBox="1"/>
          <p:nvPr>
            <p:ph idx="1" type="subTitle"/>
          </p:nvPr>
        </p:nvSpPr>
        <p:spPr>
          <a:xfrm>
            <a:off x="6669925" y="2803075"/>
            <a:ext cx="22134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None/>
              <a:defRPr sz="2100">
                <a:solidFill>
                  <a:srgbClr val="EFEFE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367500" y="724075"/>
            <a:ext cx="55533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9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5422360" y="-125"/>
            <a:ext cx="181632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032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" name="Google Shape;77;p10"/>
          <p:cNvPicPr preferRelativeResize="0"/>
          <p:nvPr/>
        </p:nvPicPr>
        <p:blipFill rotWithShape="1">
          <a:blip r:embed="rId2">
            <a:alphaModFix/>
          </a:blip>
          <a:srcRect b="36317" l="2049" r="72682" t="39130"/>
          <a:stretch/>
        </p:blipFill>
        <p:spPr>
          <a:xfrm rot="5400000">
            <a:off x="565625" y="522899"/>
            <a:ext cx="2308649" cy="126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Roboto"/>
              <a:buChar char="■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329565" y="483441"/>
            <a:ext cx="57378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i="0" sz="2400" u="none" cap="none" strike="noStrike">
                <a:solidFill>
                  <a:schemeClr val="lt1"/>
                </a:solidFill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84" name="Google Shape;84;p12"/>
          <p:cNvSpPr txBox="1"/>
          <p:nvPr>
            <p:ph idx="1" type="body"/>
          </p:nvPr>
        </p:nvSpPr>
        <p:spPr>
          <a:xfrm>
            <a:off x="439737" y="1286541"/>
            <a:ext cx="8264400" cy="3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None/>
              <a:defRPr i="0" sz="2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rtl="0" algn="l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rtl="0" algn="l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rtl="0" algn="l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rtl="0" algn="l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rtl="0" algn="l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marR="0" rtl="0" algn="l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marR="0" rtl="0" algn="l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marR="0" rtl="0" algn="l"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522716" y="4846456"/>
            <a:ext cx="2496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marR="0" rtl="0" algn="l">
              <a:lnSpc>
                <a:spcPct val="117499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rtl="0" algn="l">
              <a:lnSpc>
                <a:spcPct val="117499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rtl="0" algn="l">
              <a:lnSpc>
                <a:spcPct val="117499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rtl="0" algn="l">
              <a:lnSpc>
                <a:spcPct val="117499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rtl="0" algn="l">
              <a:lnSpc>
                <a:spcPct val="117499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rtl="0" algn="l">
              <a:lnSpc>
                <a:spcPct val="117499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rtl="0" algn="l">
              <a:lnSpc>
                <a:spcPct val="117499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rtl="0" algn="l">
              <a:lnSpc>
                <a:spcPct val="117499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rtl="0" algn="l">
              <a:lnSpc>
                <a:spcPct val="117499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522716" y="4846456"/>
            <a:ext cx="2496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marR="0" rtl="0" algn="l">
              <a:lnSpc>
                <a:spcPct val="117499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rtl="0" algn="l">
              <a:lnSpc>
                <a:spcPct val="117499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rtl="0" algn="l">
              <a:lnSpc>
                <a:spcPct val="117499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rtl="0" algn="l">
              <a:lnSpc>
                <a:spcPct val="117499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rtl="0" algn="l">
              <a:lnSpc>
                <a:spcPct val="117499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rtl="0" algn="l">
              <a:lnSpc>
                <a:spcPct val="117499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rtl="0" algn="l">
              <a:lnSpc>
                <a:spcPct val="117499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rtl="0" algn="l">
              <a:lnSpc>
                <a:spcPct val="117499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rtl="0" algn="l">
              <a:lnSpc>
                <a:spcPct val="117499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05CA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"/>
              <a:buNone/>
              <a:defRPr b="1" sz="28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sz="2800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sz="2800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sz="2800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sz="2800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sz="2800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sz="2800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sz="2800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sz="2800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 sz="1800">
                <a:solidFill>
                  <a:srgbClr val="3F3F3F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>
                <a:solidFill>
                  <a:srgbClr val="3F3F3F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>
                <a:solidFill>
                  <a:srgbClr val="3F3F3F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>
                <a:solidFill>
                  <a:srgbClr val="3F3F3F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>
                <a:solidFill>
                  <a:srgbClr val="3F3F3F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>
                <a:solidFill>
                  <a:srgbClr val="3F3F3F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>
                <a:solidFill>
                  <a:srgbClr val="3F3F3F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>
                <a:solidFill>
                  <a:srgbClr val="3F3F3F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F3F3F"/>
              </a:buClr>
              <a:buSzPts val="1400"/>
              <a:buChar char="■"/>
              <a:defRPr>
                <a:solidFill>
                  <a:srgbClr val="3F3F3F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FFFFFF"/>
                </a:solidFill>
              </a:defRPr>
            </a:lvl1pPr>
            <a:lvl2pPr lvl="1" rtl="0" algn="r">
              <a:buNone/>
              <a:defRPr sz="1000">
                <a:solidFill>
                  <a:srgbClr val="FFFFFF"/>
                </a:solidFill>
              </a:defRPr>
            </a:lvl2pPr>
            <a:lvl3pPr lvl="2" rtl="0" algn="r">
              <a:buNone/>
              <a:defRPr sz="1000">
                <a:solidFill>
                  <a:srgbClr val="FFFFFF"/>
                </a:solidFill>
              </a:defRPr>
            </a:lvl3pPr>
            <a:lvl4pPr lvl="3" rtl="0" algn="r">
              <a:buNone/>
              <a:defRPr sz="1000">
                <a:solidFill>
                  <a:srgbClr val="FFFFFF"/>
                </a:solidFill>
              </a:defRPr>
            </a:lvl4pPr>
            <a:lvl5pPr lvl="4" rtl="0" algn="r">
              <a:buNone/>
              <a:defRPr sz="1000">
                <a:solidFill>
                  <a:srgbClr val="FFFFFF"/>
                </a:solidFill>
              </a:defRPr>
            </a:lvl5pPr>
            <a:lvl6pPr lvl="5" rtl="0" algn="r">
              <a:buNone/>
              <a:defRPr sz="1000">
                <a:solidFill>
                  <a:srgbClr val="FFFFFF"/>
                </a:solidFill>
              </a:defRPr>
            </a:lvl6pPr>
            <a:lvl7pPr lvl="6" rtl="0" algn="r">
              <a:buNone/>
              <a:defRPr sz="1000">
                <a:solidFill>
                  <a:srgbClr val="FFFFFF"/>
                </a:solidFill>
              </a:defRPr>
            </a:lvl7pPr>
            <a:lvl8pPr lvl="7" rtl="0" algn="r">
              <a:buNone/>
              <a:defRPr sz="1000">
                <a:solidFill>
                  <a:srgbClr val="FFFFFF"/>
                </a:solidFill>
              </a:defRPr>
            </a:lvl8pPr>
            <a:lvl9pPr lvl="8" rtl="0" algn="r">
              <a:buNone/>
              <a:defRPr sz="10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CA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1724575" y="2589129"/>
            <a:ext cx="4014000" cy="24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Carlos Henrique Rorato Souza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452575" y="1003450"/>
            <a:ext cx="6558000" cy="13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Roboto Black"/>
                <a:ea typeface="Roboto Black"/>
                <a:cs typeface="Roboto Black"/>
                <a:sym typeface="Roboto Black"/>
              </a:rPr>
              <a:t>Exergame Distribuído com Cicloergômetro para a Reabilitação de Pacientes e Geração de Engajamento em Contextos de Telerreabilitação </a:t>
            </a:r>
            <a:endParaRPr sz="23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4" name="Google Shape;94;p14"/>
          <p:cNvSpPr txBox="1"/>
          <p:nvPr>
            <p:ph type="ctrTitle"/>
          </p:nvPr>
        </p:nvSpPr>
        <p:spPr>
          <a:xfrm>
            <a:off x="3298975" y="3439925"/>
            <a:ext cx="865200" cy="41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latin typeface="Roboto Light"/>
                <a:ea typeface="Roboto Light"/>
                <a:cs typeface="Roboto Light"/>
                <a:sym typeface="Roboto Light"/>
              </a:rPr>
              <a:t>2021</a:t>
            </a:r>
            <a:endParaRPr b="0" sz="20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5" name="Google Shape;95;p14"/>
          <p:cNvSpPr txBox="1"/>
          <p:nvPr>
            <p:ph type="ctrTitle"/>
          </p:nvPr>
        </p:nvSpPr>
        <p:spPr>
          <a:xfrm>
            <a:off x="1724575" y="2806074"/>
            <a:ext cx="4014000" cy="24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/>
              <a:t>carlossouza@inf.ufg.br</a:t>
            </a:r>
            <a:endParaRPr b="0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416950" y="290650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Motivação</a:t>
            </a:r>
            <a:endParaRPr/>
          </a:p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5CA1"/>
                </a:solidFill>
              </a:rPr>
              <a:t>‹#›</a:t>
            </a:fld>
            <a:endParaRPr b="1">
              <a:solidFill>
                <a:srgbClr val="005CA1"/>
              </a:solidFill>
            </a:endParaRPr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466075" y="1080900"/>
            <a:ext cx="671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Eficácia e reabilitação de pacientes - muitas variáveis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Cenários de reabilitação em casa ou de </a:t>
            </a:r>
            <a:r>
              <a:rPr i="1" lang="en"/>
              <a:t>telerreabilitação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Terapia com </a:t>
            </a:r>
            <a:r>
              <a:rPr i="1" lang="en"/>
              <a:t>Cicloergômetro</a:t>
            </a:r>
            <a:r>
              <a:rPr lang="en"/>
              <a:t> - disfunções musculares, problemas cardiorrespiratórios…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Abordagens com jogos</a:t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0825" y="2667175"/>
            <a:ext cx="2318475" cy="231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591975" y="1450825"/>
            <a:ext cx="6748200" cy="23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Demonstrar a eficácia da utilização de um exergame distribuído como alternativa e/ou suporte para a telerreabilitação de pacientes que, em seus procedimentos de terapia, utilizem o cicloergômetro como aparelho.</a:t>
            </a:r>
            <a:endParaRPr sz="2200"/>
          </a:p>
        </p:txBody>
      </p: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6"/>
          <p:cNvSpPr txBox="1"/>
          <p:nvPr>
            <p:ph idx="1" type="subTitle"/>
          </p:nvPr>
        </p:nvSpPr>
        <p:spPr>
          <a:xfrm>
            <a:off x="1565854" y="4042972"/>
            <a:ext cx="6460500" cy="59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OBJETIVO GERAL</a:t>
            </a:r>
            <a:endParaRPr b="1"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311700" y="459050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Específicos</a:t>
            </a:r>
            <a:endParaRPr/>
          </a:p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5CA1"/>
                </a:solidFill>
              </a:rPr>
              <a:t>‹#›</a:t>
            </a:fld>
            <a:endParaRPr b="1">
              <a:solidFill>
                <a:srgbClr val="005CA1"/>
              </a:solidFill>
            </a:endParaRPr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311700" y="1143775"/>
            <a:ext cx="7505400" cy="37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Explorar, identificar e analisar os projetos de jogos digitais existentes que propõem-se a engajar o paciente na realização das sessões de fisioterapia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Aprimorar a interação entre o paciente e o </a:t>
            </a:r>
            <a:r>
              <a:rPr i="1" lang="en" sz="1700"/>
              <a:t>exergame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Levantar possibilidades para a intensificação do engajamento do paciente por meio de elementos de jogos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Projetar e desenvolver o protótipo de um </a:t>
            </a:r>
            <a:r>
              <a:rPr i="1" lang="en" sz="1700"/>
              <a:t>exergame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1000"/>
              </a:spcAft>
              <a:buSzPts val="1700"/>
              <a:buChar char="●"/>
            </a:pPr>
            <a:r>
              <a:rPr lang="en" sz="1700"/>
              <a:t>Avaliar a eficácia da solução desenvolvida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311700" y="23452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Fundamentos - Reabilitação Funcional</a:t>
            </a:r>
            <a:endParaRPr/>
          </a:p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5CA1"/>
                </a:solidFill>
              </a:rPr>
              <a:t>‹#›</a:t>
            </a:fld>
            <a:endParaRPr b="1">
              <a:solidFill>
                <a:srgbClr val="005CA1"/>
              </a:solidFill>
            </a:endParaRPr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50" y="1002400"/>
            <a:ext cx="6257750" cy="244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4125" y="2902525"/>
            <a:ext cx="2339075" cy="213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311700" y="150300"/>
            <a:ext cx="766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Fundamentos - </a:t>
            </a:r>
            <a:r>
              <a:rPr lang="en"/>
              <a:t>Telessaúde e Telerreabilitação</a:t>
            </a:r>
            <a:endParaRPr/>
          </a:p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5CA1"/>
                </a:solidFill>
              </a:rPr>
              <a:t>‹#›</a:t>
            </a:fld>
            <a:endParaRPr b="1">
              <a:solidFill>
                <a:srgbClr val="005CA1"/>
              </a:solidFill>
            </a:endParaRPr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206425" y="821225"/>
            <a:ext cx="7743900" cy="16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Telessaúde - o que é?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Áreas:</a:t>
            </a:r>
            <a:r>
              <a:rPr lang="en" sz="1700"/>
              <a:t> Telemedicina, Teleoftalmologia, Tele-enfermagem, Telefonoaudiologia e </a:t>
            </a:r>
            <a:r>
              <a:rPr b="1" lang="en" sz="1700"/>
              <a:t>Telefisioterapia</a:t>
            </a:r>
            <a:r>
              <a:rPr lang="en" sz="1700"/>
              <a:t>. </a:t>
            </a:r>
            <a:r>
              <a:rPr b="1" i="1" lang="en" sz="1700"/>
              <a:t>E a Telerreabilitação?</a:t>
            </a:r>
            <a:endParaRPr b="1" i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Teleconsultas</a:t>
            </a:r>
            <a:endParaRPr sz="1700"/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650" y="2493575"/>
            <a:ext cx="6254962" cy="18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6525850" y="4397725"/>
            <a:ext cx="1859400" cy="617400"/>
          </a:xfrm>
          <a:prstGeom prst="roundRect">
            <a:avLst>
              <a:gd fmla="val 16667" name="adj"/>
            </a:avLst>
          </a:prstGeom>
          <a:solidFill>
            <a:srgbClr val="005CA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...E no Brasil</a:t>
            </a:r>
            <a:r>
              <a:rPr b="1"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311700" y="164350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Fundamentos - Realidade Virtual</a:t>
            </a:r>
            <a:endParaRPr/>
          </a:p>
        </p:txBody>
      </p:sp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5CA1"/>
                </a:solidFill>
              </a:rPr>
              <a:t>‹#›</a:t>
            </a:fld>
            <a:endParaRPr b="1">
              <a:solidFill>
                <a:srgbClr val="005CA1"/>
              </a:solidFill>
            </a:endParaRPr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311700" y="975375"/>
            <a:ext cx="7596600" cy="32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O que é?</a:t>
            </a:r>
            <a:endParaRPr b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Jogos e Realidade Virtual</a:t>
            </a:r>
            <a:endParaRPr b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Tipos de Realidade Virtual</a:t>
            </a:r>
            <a:endParaRPr b="1" sz="1700"/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800" y="2168250"/>
            <a:ext cx="6794324" cy="274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311700" y="11522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Fundamentos - Jogos, Engajamento e Jogos Sérios</a:t>
            </a:r>
            <a:endParaRPr sz="2300"/>
          </a:p>
        </p:txBody>
      </p:sp>
      <p:sp>
        <p:nvSpPr>
          <p:cNvPr id="148" name="Google Shape;148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5CA1"/>
                </a:solidFill>
              </a:rPr>
              <a:t>‹#›</a:t>
            </a:fld>
            <a:endParaRPr b="1">
              <a:solidFill>
                <a:srgbClr val="005CA1"/>
              </a:solidFill>
            </a:endParaRPr>
          </a:p>
        </p:txBody>
      </p:sp>
      <p:sp>
        <p:nvSpPr>
          <p:cNvPr id="149" name="Google Shape;149;p21"/>
          <p:cNvSpPr txBox="1"/>
          <p:nvPr>
            <p:ph idx="1" type="body"/>
          </p:nvPr>
        </p:nvSpPr>
        <p:spPr>
          <a:xfrm>
            <a:off x="213450" y="773550"/>
            <a:ext cx="775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O que são jogos? (por </a:t>
            </a:r>
            <a:r>
              <a:rPr b="1" lang="en" sz="1700"/>
              <a:t>Kaap)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Huizinga:</a:t>
            </a:r>
            <a:r>
              <a:rPr lang="en" sz="1700"/>
              <a:t> </a:t>
            </a:r>
            <a:r>
              <a:rPr lang="en" sz="1700"/>
              <a:t>Círculo Mágico;</a:t>
            </a:r>
            <a:endParaRPr sz="1700"/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8575" y="1767275"/>
            <a:ext cx="5058650" cy="300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/>
          <p:nvPr/>
        </p:nvSpPr>
        <p:spPr>
          <a:xfrm>
            <a:off x="407000" y="1880550"/>
            <a:ext cx="2666400" cy="2680500"/>
          </a:xfrm>
          <a:prstGeom prst="roundRect">
            <a:avLst>
              <a:gd fmla="val 11636" name="adj"/>
            </a:avLst>
          </a:prstGeom>
          <a:solidFill>
            <a:srgbClr val="005CA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Estado psicoemocional: “Estado de</a:t>
            </a:r>
            <a:r>
              <a:rPr b="1" i="1"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Flow</a:t>
            </a:r>
            <a:r>
              <a:rPr b="1"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”</a:t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Engajamento?</a:t>
            </a:r>
            <a:endParaRPr b="1" i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5CA1"/>
                </a:solidFill>
              </a:rPr>
              <a:t>‹#›</a:t>
            </a:fld>
            <a:endParaRPr b="1">
              <a:solidFill>
                <a:srgbClr val="005CA1"/>
              </a:solidFill>
            </a:endParaRPr>
          </a:p>
        </p:txBody>
      </p:sp>
      <p:sp>
        <p:nvSpPr>
          <p:cNvPr id="157" name="Google Shape;157;p22"/>
          <p:cNvSpPr txBox="1"/>
          <p:nvPr>
            <p:ph idx="1" type="body"/>
          </p:nvPr>
        </p:nvSpPr>
        <p:spPr>
          <a:xfrm>
            <a:off x="213450" y="982375"/>
            <a:ext cx="7758000" cy="19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O que são Jogos Sérios? E </a:t>
            </a:r>
            <a:r>
              <a:rPr b="1" i="1" lang="en" sz="1700"/>
              <a:t>Exergames</a:t>
            </a:r>
            <a:r>
              <a:rPr b="1" lang="en" sz="1700"/>
              <a:t>?</a:t>
            </a:r>
            <a:endParaRPr b="1" sz="1700"/>
          </a:p>
        </p:txBody>
      </p:sp>
      <p:sp>
        <p:nvSpPr>
          <p:cNvPr id="158" name="Google Shape;158;p22"/>
          <p:cNvSpPr txBox="1"/>
          <p:nvPr>
            <p:ph type="title"/>
          </p:nvPr>
        </p:nvSpPr>
        <p:spPr>
          <a:xfrm>
            <a:off x="311700" y="290650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Fundamentos - Jogos, Engajamento e Jogos Sérios</a:t>
            </a:r>
            <a:endParaRPr sz="2300"/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2625" y="1720800"/>
            <a:ext cx="4366575" cy="288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311700" y="297650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Fundamentos - Sistemas Distribuídos</a:t>
            </a:r>
            <a:endParaRPr/>
          </a:p>
        </p:txBody>
      </p:sp>
      <p:sp>
        <p:nvSpPr>
          <p:cNvPr id="165" name="Google Shape;165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5CA1"/>
                </a:solidFill>
              </a:rPr>
              <a:t>‹#›</a:t>
            </a:fld>
            <a:endParaRPr b="1">
              <a:solidFill>
                <a:srgbClr val="005CA1"/>
              </a:solidFill>
            </a:endParaRPr>
          </a:p>
        </p:txBody>
      </p:sp>
      <p:sp>
        <p:nvSpPr>
          <p:cNvPr id="166" name="Google Shape;166;p23"/>
          <p:cNvSpPr txBox="1"/>
          <p:nvPr>
            <p:ph idx="1" type="body"/>
          </p:nvPr>
        </p:nvSpPr>
        <p:spPr>
          <a:xfrm>
            <a:off x="227500" y="996650"/>
            <a:ext cx="7912200" cy="3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 que são Sistemas Distribuídos?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Arquitetura:</a:t>
            </a:r>
            <a:r>
              <a:rPr lang="en" sz="1400"/>
              <a:t> Centralizada, descentralizada e híbrida;</a:t>
            </a:r>
            <a:endParaRPr sz="1400"/>
          </a:p>
        </p:txBody>
      </p:sp>
      <p:pic>
        <p:nvPicPr>
          <p:cNvPr id="167" name="Google Shape;16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3600" y="1950475"/>
            <a:ext cx="5420008" cy="27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311700" y="262575"/>
            <a:ext cx="6962700" cy="5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Fundamentos - Sistemas de Tempo Real</a:t>
            </a:r>
            <a:endParaRPr/>
          </a:p>
        </p:txBody>
      </p:sp>
      <p:sp>
        <p:nvSpPr>
          <p:cNvPr id="173" name="Google Shape;173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5CA1"/>
                </a:solidFill>
              </a:rPr>
              <a:t>‹#›</a:t>
            </a:fld>
            <a:endParaRPr b="1">
              <a:solidFill>
                <a:srgbClr val="005CA1"/>
              </a:solidFill>
            </a:endParaRPr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199425" y="1101675"/>
            <a:ext cx="7996500" cy="29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 que são os Sistemas de Tempo Real?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Tarefas (</a:t>
            </a:r>
            <a:r>
              <a:rPr i="1" lang="en" sz="1600"/>
              <a:t>tasks</a:t>
            </a:r>
            <a:r>
              <a:rPr lang="en" sz="1600"/>
              <a:t>) e  </a:t>
            </a:r>
            <a:r>
              <a:rPr i="1" lang="en" sz="1600"/>
              <a:t>Deadline</a:t>
            </a:r>
            <a:r>
              <a:rPr lang="en" sz="1600"/>
              <a:t>.</a:t>
            </a:r>
            <a:endParaRPr sz="1600"/>
          </a:p>
        </p:txBody>
      </p:sp>
      <p:pic>
        <p:nvPicPr>
          <p:cNvPr id="175" name="Google Shape;17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1050" y="2006588"/>
            <a:ext cx="6189609" cy="256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/>
          <p:nvPr/>
        </p:nvSpPr>
        <p:spPr>
          <a:xfrm>
            <a:off x="199425" y="2268625"/>
            <a:ext cx="1835400" cy="2040000"/>
          </a:xfrm>
          <a:prstGeom prst="roundRect">
            <a:avLst>
              <a:gd fmla="val 11636" name="adj"/>
            </a:avLst>
          </a:prstGeom>
          <a:solidFill>
            <a:srgbClr val="005CA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hard real-time</a:t>
            </a:r>
            <a:endParaRPr b="1"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soft real-time</a:t>
            </a:r>
            <a:endParaRPr b="1"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real real-time</a:t>
            </a:r>
            <a:endParaRPr b="1"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firm real-time</a:t>
            </a:r>
            <a:endParaRPr b="1" i="1"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>
            <a:off x="311700" y="36222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Antecedentes e Pressupostos</a:t>
            </a:r>
            <a:endParaRPr/>
          </a:p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311700" y="934925"/>
            <a:ext cx="696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Revisão Sistemática da Literatura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Dissertação de Mestrado: Exergame com Cicloergômetro para a Reabilitação de Pacientes (2020)</a:t>
            </a:r>
            <a:endParaRPr/>
          </a:p>
        </p:txBody>
      </p:sp>
      <p:sp>
        <p:nvSpPr>
          <p:cNvPr id="183" name="Google Shape;183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8750" y="2350700"/>
            <a:ext cx="3987851" cy="217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25" y="2203375"/>
            <a:ext cx="4903025" cy="256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Desenvolvimento do Protótipo</a:t>
            </a:r>
            <a:endParaRPr/>
          </a:p>
        </p:txBody>
      </p:sp>
      <p:sp>
        <p:nvSpPr>
          <p:cNvPr id="191" name="Google Shape;191;p26"/>
          <p:cNvSpPr txBox="1"/>
          <p:nvPr>
            <p:ph idx="1" type="body"/>
          </p:nvPr>
        </p:nvSpPr>
        <p:spPr>
          <a:xfrm>
            <a:off x="311700" y="1152475"/>
            <a:ext cx="696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Arquitetura distribuída (</a:t>
            </a:r>
            <a:r>
              <a:rPr i="1" lang="en"/>
              <a:t>multiplayer</a:t>
            </a:r>
            <a:r>
              <a:rPr lang="en"/>
              <a:t>) -</a:t>
            </a:r>
            <a:r>
              <a:rPr b="1" lang="en"/>
              <a:t> dois atores;</a:t>
            </a:r>
            <a:endParaRPr b="1"/>
          </a:p>
        </p:txBody>
      </p:sp>
      <p:sp>
        <p:nvSpPr>
          <p:cNvPr id="192" name="Google Shape;192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3" name="Google Shape;19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1423" y="1705123"/>
            <a:ext cx="5445650" cy="316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Desenvolvimento do Protótipo</a:t>
            </a:r>
            <a:endParaRPr/>
          </a:p>
        </p:txBody>
      </p:sp>
      <p:sp>
        <p:nvSpPr>
          <p:cNvPr id="199" name="Google Shape;199;p27"/>
          <p:cNvSpPr txBox="1"/>
          <p:nvPr>
            <p:ph idx="1" type="body"/>
          </p:nvPr>
        </p:nvSpPr>
        <p:spPr>
          <a:xfrm>
            <a:off x="311700" y="1152475"/>
            <a:ext cx="696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Adaptações no Cicloergômetro</a:t>
            </a:r>
            <a:endParaRPr b="1"/>
          </a:p>
        </p:txBody>
      </p:sp>
      <p:sp>
        <p:nvSpPr>
          <p:cNvPr id="200" name="Google Shape;200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1" name="Google Shape;20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050" y="1698125"/>
            <a:ext cx="7852100" cy="318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Desenvolvimento do Protótipo</a:t>
            </a:r>
            <a:endParaRPr/>
          </a:p>
        </p:txBody>
      </p:sp>
      <p:sp>
        <p:nvSpPr>
          <p:cNvPr id="207" name="Google Shape;207;p28"/>
          <p:cNvSpPr txBox="1"/>
          <p:nvPr>
            <p:ph idx="1" type="body"/>
          </p:nvPr>
        </p:nvSpPr>
        <p:spPr>
          <a:xfrm>
            <a:off x="311700" y="1089325"/>
            <a:ext cx="696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Unreal Engine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Transmissão dos dados</a:t>
            </a:r>
            <a:endParaRPr b="1"/>
          </a:p>
        </p:txBody>
      </p:sp>
      <p:sp>
        <p:nvSpPr>
          <p:cNvPr id="208" name="Google Shape;208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9" name="Google Shape;20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600" y="2001125"/>
            <a:ext cx="7791450" cy="26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Desenvolvimento do Protótipo</a:t>
            </a:r>
            <a:endParaRPr/>
          </a:p>
        </p:txBody>
      </p:sp>
      <p:sp>
        <p:nvSpPr>
          <p:cNvPr id="215" name="Google Shape;215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6" name="Google Shape;21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425" y="1242025"/>
            <a:ext cx="5007174" cy="341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3924" y="1242025"/>
            <a:ext cx="3267520" cy="3416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236600" y="12927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Protótipo Desenvolvido</a:t>
            </a:r>
            <a:endParaRPr/>
          </a:p>
        </p:txBody>
      </p:sp>
      <p:sp>
        <p:nvSpPr>
          <p:cNvPr id="223" name="Google Shape;223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4" name="Google Shape;22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950" y="749075"/>
            <a:ext cx="7318773" cy="200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950" y="2846925"/>
            <a:ext cx="3610972" cy="200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4925" y="2846925"/>
            <a:ext cx="3707800" cy="200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>
            <p:ph type="title"/>
          </p:nvPr>
        </p:nvSpPr>
        <p:spPr>
          <a:xfrm>
            <a:off x="180475" y="3967600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Protótipo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Desenvolvido</a:t>
            </a:r>
            <a:endParaRPr/>
          </a:p>
        </p:txBody>
      </p:sp>
      <p:sp>
        <p:nvSpPr>
          <p:cNvPr id="232" name="Google Shape;232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" name="Google Shape;233;p31"/>
          <p:cNvPicPr preferRelativeResize="0"/>
          <p:nvPr/>
        </p:nvPicPr>
        <p:blipFill rotWithShape="1">
          <a:blip r:embed="rId3">
            <a:alphaModFix/>
          </a:blip>
          <a:srcRect b="0" l="0" r="50362" t="0"/>
          <a:stretch/>
        </p:blipFill>
        <p:spPr>
          <a:xfrm>
            <a:off x="75225" y="75500"/>
            <a:ext cx="4879749" cy="245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1"/>
          <p:cNvPicPr preferRelativeResize="0"/>
          <p:nvPr/>
        </p:nvPicPr>
        <p:blipFill rotWithShape="1">
          <a:blip r:embed="rId3">
            <a:alphaModFix/>
          </a:blip>
          <a:srcRect b="0" l="50285" r="0" t="0"/>
          <a:stretch/>
        </p:blipFill>
        <p:spPr>
          <a:xfrm>
            <a:off x="4104975" y="2642350"/>
            <a:ext cx="4952852" cy="24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 txBox="1"/>
          <p:nvPr>
            <p:ph type="title"/>
          </p:nvPr>
        </p:nvSpPr>
        <p:spPr>
          <a:xfrm>
            <a:off x="236600" y="12927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Protótipo Desenvolvido</a:t>
            </a:r>
            <a:endParaRPr/>
          </a:p>
        </p:txBody>
      </p:sp>
      <p:sp>
        <p:nvSpPr>
          <p:cNvPr id="240" name="Google Shape;240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1" name="Google Shape;24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1975"/>
            <a:ext cx="4740699" cy="25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7575" y="2519101"/>
            <a:ext cx="4444276" cy="248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 txBox="1"/>
          <p:nvPr>
            <p:ph type="title"/>
          </p:nvPr>
        </p:nvSpPr>
        <p:spPr>
          <a:xfrm>
            <a:off x="311700" y="59237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Testagem e Validação</a:t>
            </a:r>
            <a:endParaRPr/>
          </a:p>
        </p:txBody>
      </p:sp>
      <p:sp>
        <p:nvSpPr>
          <p:cNvPr id="248" name="Google Shape;248;p33"/>
          <p:cNvSpPr txBox="1"/>
          <p:nvPr>
            <p:ph idx="1" type="body"/>
          </p:nvPr>
        </p:nvSpPr>
        <p:spPr>
          <a:xfrm>
            <a:off x="416950" y="1449325"/>
            <a:ext cx="696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Validação com </a:t>
            </a:r>
            <a:r>
              <a:rPr b="1" lang="en" sz="1900"/>
              <a:t>especialistas</a:t>
            </a:r>
            <a:r>
              <a:rPr lang="en" sz="1900"/>
              <a:t> e com </a:t>
            </a:r>
            <a:r>
              <a:rPr b="1" lang="en" sz="1900"/>
              <a:t>pacientes</a:t>
            </a:r>
            <a:r>
              <a:rPr lang="en" sz="1900"/>
              <a:t>;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Método Delphi</a:t>
            </a:r>
            <a:r>
              <a:rPr lang="en" sz="1900"/>
              <a:t>:</a:t>
            </a:r>
            <a:endParaRPr sz="19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Avaliação com </a:t>
            </a:r>
            <a:r>
              <a:rPr b="1" lang="en" sz="1500"/>
              <a:t>especialistas</a:t>
            </a:r>
            <a:r>
              <a:rPr lang="en" sz="1500"/>
              <a:t> a partir de </a:t>
            </a:r>
            <a:r>
              <a:rPr b="1" lang="en" sz="1500"/>
              <a:t>questionários</a:t>
            </a:r>
            <a:endParaRPr b="1"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en" sz="1500"/>
              <a:t>Consenso</a:t>
            </a:r>
            <a:endParaRPr b="1"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en" sz="1500"/>
              <a:t>Processo em etapas</a:t>
            </a:r>
            <a:endParaRPr b="1" sz="1500"/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49" name="Google Shape;249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>
            <p:ph idx="1" type="subTitle"/>
          </p:nvPr>
        </p:nvSpPr>
        <p:spPr>
          <a:xfrm>
            <a:off x="265500" y="1345050"/>
            <a:ext cx="2189100" cy="15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Diagrama de Atividades do Método Delphi</a:t>
            </a:r>
            <a:endParaRPr sz="2200"/>
          </a:p>
        </p:txBody>
      </p:sp>
      <p:pic>
        <p:nvPicPr>
          <p:cNvPr id="255" name="Google Shape;25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5525" y="152400"/>
            <a:ext cx="4634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</a:t>
            </a:r>
            <a:endParaRPr/>
          </a:p>
        </p:txBody>
      </p:sp>
      <p:sp>
        <p:nvSpPr>
          <p:cNvPr id="261" name="Google Shape;261;p35"/>
          <p:cNvSpPr txBox="1"/>
          <p:nvPr>
            <p:ph idx="1" type="body"/>
          </p:nvPr>
        </p:nvSpPr>
        <p:spPr>
          <a:xfrm>
            <a:off x="311700" y="1152475"/>
            <a:ext cx="768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Exergame Desenvolvido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Planejamento e execução da primeira etapa da Avaliação Delphi</a:t>
            </a:r>
            <a:endParaRPr/>
          </a:p>
        </p:txBody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pic>
        <p:nvPicPr>
          <p:cNvPr id="263" name="Google Shape;26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550" y="2119149"/>
            <a:ext cx="7479949" cy="28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Trabalhos Relacionados</a:t>
            </a:r>
            <a:endParaRPr/>
          </a:p>
        </p:txBody>
      </p:sp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pic>
        <p:nvPicPr>
          <p:cNvPr id="270" name="Google Shape;27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00" y="1330725"/>
            <a:ext cx="8839203" cy="3095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7"/>
          <p:cNvSpPr txBox="1"/>
          <p:nvPr>
            <p:ph type="title"/>
          </p:nvPr>
        </p:nvSpPr>
        <p:spPr>
          <a:xfrm>
            <a:off x="255550" y="36082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Considerações Finais</a:t>
            </a:r>
            <a:endParaRPr/>
          </a:p>
        </p:txBody>
      </p:sp>
      <p:sp>
        <p:nvSpPr>
          <p:cNvPr id="276" name="Google Shape;276;p37"/>
          <p:cNvSpPr txBox="1"/>
          <p:nvPr>
            <p:ph idx="1" type="body"/>
          </p:nvPr>
        </p:nvSpPr>
        <p:spPr>
          <a:xfrm>
            <a:off x="115225" y="1368325"/>
            <a:ext cx="301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Apontamentos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Produções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Resultados Esperados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Cronograma de Atividades</a:t>
            </a:r>
            <a:endParaRPr/>
          </a:p>
        </p:txBody>
      </p:sp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8" name="Google Shape;27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0600" y="1368325"/>
            <a:ext cx="4938150" cy="34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8"/>
          <p:cNvSpPr txBox="1"/>
          <p:nvPr>
            <p:ph idx="4294967295" type="ctrTitle"/>
          </p:nvPr>
        </p:nvSpPr>
        <p:spPr>
          <a:xfrm>
            <a:off x="3188500" y="2853804"/>
            <a:ext cx="2696100" cy="44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</a:rPr>
              <a:t>carlossouza</a:t>
            </a:r>
            <a:r>
              <a:rPr b="0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@inf.ufg.br</a:t>
            </a:r>
            <a:endParaRPr b="0"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38"/>
          <p:cNvSpPr txBox="1"/>
          <p:nvPr>
            <p:ph idx="4294967295" type="title"/>
          </p:nvPr>
        </p:nvSpPr>
        <p:spPr>
          <a:xfrm>
            <a:off x="455700" y="839050"/>
            <a:ext cx="8232600" cy="14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2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Obrigado</a:t>
            </a:r>
            <a:endParaRPr b="0" sz="7200">
              <a:solidFill>
                <a:srgbClr val="FFFFFF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pic>
        <p:nvPicPr>
          <p:cNvPr id="285" name="Google Shape;28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1697" y="4364559"/>
            <a:ext cx="722304" cy="351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0004" y="4425045"/>
            <a:ext cx="813941" cy="274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F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