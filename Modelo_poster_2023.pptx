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32399275"/>
  <p:notesSz cx="32399275" cy="43200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474">
          <p15:clr>
            <a:srgbClr val="000000"/>
          </p15:clr>
        </p15:guide>
        <p15:guide id="2" pos="20169">
          <p15:clr>
            <a:srgbClr val="747775"/>
          </p15:clr>
        </p15:guide>
      </p15:sldGuideLst>
    </p:ext>
    <p:ext uri="GoogleSlidesCustomDataVersion2">
      <go:slidesCustomData xmlns:go="http://customooxmlschemas.google.com/" r:id="rId7" roundtripDataSignature="AMtx7mipF72HEruyxG3teXMeCWzDIPAz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74" orient="horz"/>
        <p:guide pos="2016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400950" y="3240025"/>
            <a:ext cx="21600575" cy="16200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3239925" y="20520275"/>
            <a:ext cx="25919400" cy="19440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3239925" y="20520275"/>
            <a:ext cx="25919400" cy="19440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0126663" y="3240088"/>
            <a:ext cx="12149137" cy="16200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27451" y="2300044"/>
            <a:ext cx="27944386" cy="835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2227451" y="11500170"/>
            <a:ext cx="27944386" cy="27410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0"/>
              <a:buFont typeface="Calibri"/>
              <a:buNone/>
              <a:defRPr sz="212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8500"/>
            </a:lvl1pPr>
            <a:lvl2pPr lvl="1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sz="7100"/>
            </a:lvl2pPr>
            <a:lvl3pPr lvl="2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3pPr>
            <a:lvl4pPr lvl="3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4pPr>
            <a:lvl5pPr lvl="4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5pPr>
            <a:lvl6pPr lvl="5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6pPr>
            <a:lvl7pPr lvl="6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7pPr>
            <a:lvl8pPr lvl="7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8pPr>
            <a:lvl9pPr lvl="8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210578" y="10770172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0"/>
              <a:buFont typeface="Calibri"/>
              <a:buNone/>
              <a:defRPr sz="212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8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7100"/>
              <a:buNone/>
              <a:defRPr sz="71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50"/>
              <a:buNone/>
              <a:defRPr sz="56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50"/>
              <a:buNone/>
              <a:defRPr sz="56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50"/>
              <a:buNone/>
              <a:defRPr sz="56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50"/>
              <a:buNone/>
              <a:defRPr sz="56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50"/>
              <a:buNone/>
              <a:defRPr sz="56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50"/>
              <a:buNone/>
              <a:defRPr sz="56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227451" y="2300044"/>
            <a:ext cx="27944386" cy="835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227451" y="11500170"/>
            <a:ext cx="13769697" cy="27410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6402140" y="11500170"/>
            <a:ext cx="13769697" cy="27410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231671" y="2300044"/>
            <a:ext cx="27944386" cy="835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b="1" sz="710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2231675" y="15780232"/>
            <a:ext cx="13706415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402142" y="10590160"/>
            <a:ext cx="13773917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None/>
              <a:defRPr b="1" sz="710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b="1" sz="565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402142" y="15780232"/>
            <a:ext cx="13773917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227451" y="2300044"/>
            <a:ext cx="27944386" cy="835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31671" y="2880042"/>
            <a:ext cx="10449614" cy="100801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0"/>
              <a:buFont typeface="Calibri"/>
              <a:buNone/>
              <a:defRPr sz="113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49325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1350"/>
              <a:buChar char="•"/>
              <a:defRPr sz="11350"/>
            </a:lvl1pPr>
            <a:lvl2pPr indent="-85725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9900"/>
              <a:buChar char="•"/>
              <a:defRPr sz="9900"/>
            </a:lvl2pPr>
            <a:lvl3pPr indent="-76835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67945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4pPr>
            <a:lvl5pPr indent="-67945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5pPr>
            <a:lvl6pPr indent="-67945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6pPr>
            <a:lvl7pPr indent="-67945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7pPr>
            <a:lvl8pPr indent="-67945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8pPr>
            <a:lvl9pPr indent="-67945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Char char="•"/>
              <a:defRPr sz="71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sz="495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0"/>
              <a:buNone/>
              <a:defRPr sz="4250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231671" y="2880042"/>
            <a:ext cx="10449614" cy="100801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50"/>
              <a:buFont typeface="Calibri"/>
              <a:buNone/>
              <a:defRPr sz="113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50"/>
              <a:buNone/>
              <a:defRPr sz="5650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50"/>
              <a:buNone/>
              <a:defRPr sz="495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0"/>
              <a:buNone/>
              <a:defRPr sz="4250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50"/>
              <a:buNone/>
              <a:defRPr sz="35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2227451" y="2300044"/>
            <a:ext cx="27944386" cy="835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494441" y="11233181"/>
            <a:ext cx="27410407" cy="27944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373518" y="17112258"/>
            <a:ext cx="36610544" cy="698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5801170" y="10328657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227451" y="2300044"/>
            <a:ext cx="27944386" cy="835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0"/>
              <a:buFont typeface="Calibri"/>
              <a:buNone/>
              <a:defRPr b="0" i="0" sz="1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227451" y="11500170"/>
            <a:ext cx="27944386" cy="27410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57250" lvl="0" marL="457200" marR="0" rtl="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9900"/>
              <a:buFont typeface="Arial"/>
              <a:buChar char="•"/>
              <a:defRPr b="0" i="0" sz="9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8350" lvl="1" marL="914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rial"/>
              <a:buChar char="•"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79450" lvl="2" marL="1371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100"/>
              <a:buFont typeface="Arial"/>
              <a:buChar char="•"/>
              <a:defRPr b="0" i="0" sz="7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35000" lvl="3" marL="1828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35000" lvl="4" marL="22860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35000" lvl="5" marL="27432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35000" lvl="6" marL="3200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35000" lvl="7" marL="3657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35000" lvl="8" marL="4114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Arial"/>
              <a:buNone/>
              <a:defRPr b="0" i="0" sz="4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32825" y="5686675"/>
            <a:ext cx="28097100" cy="1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25" lIns="86850" spcFirstLastPara="1" rIns="86850" wrap="square" tIns="43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lang="pt-BR" sz="4000">
                <a:latin typeface="Times New Roman"/>
                <a:ea typeface="Times New Roman"/>
                <a:cs typeface="Times New Roman"/>
                <a:sym typeface="Times New Roman"/>
              </a:rPr>
              <a:t>Daniela Fernandes do </a:t>
            </a:r>
            <a:r>
              <a:rPr b="1" lang="pt-BR" sz="4000">
                <a:latin typeface="Times New Roman"/>
                <a:ea typeface="Times New Roman"/>
                <a:cs typeface="Times New Roman"/>
                <a:sym typeface="Times New Roman"/>
              </a:rPr>
              <a:t>Nascimento </a:t>
            </a:r>
            <a:r>
              <a:rPr b="1" baseline="30000" lang="pt-BR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pt-BR" sz="40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0" lang="pt-BR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pt-BR" sz="4000">
                <a:latin typeface="Times New Roman"/>
                <a:ea typeface="Times New Roman"/>
                <a:cs typeface="Times New Roman"/>
                <a:sym typeface="Times New Roman"/>
              </a:rPr>
              <a:t>Carlos Henrique Rorato Souza </a:t>
            </a:r>
            <a:r>
              <a:rPr b="1" baseline="30000" lang="pt-BR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pt-BR" sz="40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0" lang="pt-BR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pt-BR" sz="4000">
                <a:latin typeface="Times New Roman"/>
                <a:ea typeface="Times New Roman"/>
                <a:cs typeface="Times New Roman"/>
                <a:sym typeface="Times New Roman"/>
              </a:rPr>
              <a:t>Sergio T. Carvalho </a:t>
            </a:r>
            <a:r>
              <a:rPr b="1" baseline="30000" lang="pt-BR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lang="pt-BR" sz="4000">
                <a:latin typeface="Times New Roman"/>
                <a:ea typeface="Times New Roman"/>
                <a:cs typeface="Times New Roman"/>
                <a:sym typeface="Times New Roman"/>
              </a:rPr>
              <a:t>Instituto de Informática </a:t>
            </a:r>
            <a:r>
              <a:rPr baseline="30000" lang="pt-BR" sz="4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32825" y="3550100"/>
            <a:ext cx="28097100" cy="19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425" lIns="86850" spcFirstLastPara="1" rIns="86850" wrap="square" tIns="43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</a:pPr>
            <a:r>
              <a:rPr b="1" lang="pt-BR" sz="6000">
                <a:latin typeface="Times New Roman"/>
                <a:ea typeface="Times New Roman"/>
                <a:cs typeface="Times New Roman"/>
                <a:sym typeface="Times New Roman"/>
              </a:rPr>
              <a:t>EVOLUÇÃO DE UM EXERGAME PARA A TELERREABILITAÇÃO DE PACIENTES</a:t>
            </a:r>
            <a:endParaRPr b="1" i="0" sz="6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32825" y="9583525"/>
            <a:ext cx="15450900" cy="78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979488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b="1" i="0" lang="pt-BR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979488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979487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lang="pt-BR" sz="4800">
                <a:latin typeface="Times New Roman"/>
                <a:ea typeface="Times New Roman"/>
                <a:cs typeface="Times New Roman"/>
                <a:sym typeface="Times New Roman"/>
              </a:rPr>
              <a:t>O processo de reabilitação é essencial para ajudar os pacientes com problemas de movimento e outras condições de saúde [1]. A adesão do paciente a essas sessões pode afetar os resultados. O CicloExergame é um jogo digital que combina exercícios com uma bicicleta ergométrica, tornando a reabilitação mais interessante e colaborativa. A pesquisa visa melhorar a telerreabilitação, fortalecendo a relação entre paciente, tratamento e profissionais de saúde.</a:t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979488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6636225" y="15049225"/>
            <a:ext cx="15501300" cy="7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979488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b="1" i="0" lang="pt-BR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979488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979487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rPr lang="pt-BR" sz="5000">
                <a:latin typeface="Times New Roman"/>
                <a:ea typeface="Times New Roman"/>
                <a:cs typeface="Times New Roman"/>
                <a:sym typeface="Times New Roman"/>
              </a:rPr>
              <a:t>Houve avanços significativos no aperfeiçoamento do CicloExergame para melhorar a reabilitação dos pacientes. Avaliações e testes anteriores forneceram insights para melhorar o jogo, resultando em importantes avanços, incluindo a calibração mais precisa do cicloergômetro, a personalização do avatar, e a adoção do padrão de interoperabilidade em saúde FHIR [3] para recuperação de dados de fisioterapia. </a:t>
            </a:r>
            <a:endParaRPr b="0" i="0" sz="5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47375" y="27046225"/>
            <a:ext cx="15421800" cy="9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08267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MÉTODOS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082675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082675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pt-BR" sz="5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5000">
                <a:latin typeface="Times New Roman"/>
                <a:ea typeface="Times New Roman"/>
                <a:cs typeface="Times New Roman"/>
                <a:sym typeface="Times New Roman"/>
              </a:rPr>
              <a:t>O CicloExergame é um jogo digital sério com um cicloergômetro adaptado e com sensores para a captura de dados fisiológicos integrado com um sistema de comunicação por áudio e vídeo em tempo real. No contexto do padrão de interoperabilidade em saúde FHIR [3], o CicloExergame busca a interoperabilidade e integração eficientes, visando a recuperação e a preparação dos dados das sessões de fisioterapia, e o guia de implementação para auxiliar na incorporação eficaz do protótipo em processos de reabilitação.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6756075" y="38057075"/>
            <a:ext cx="152616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08267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REFERÊNCIAS </a:t>
            </a:r>
            <a:endParaRPr b="1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>
                <a:latin typeface="Times New Roman"/>
                <a:ea typeface="Times New Roman"/>
                <a:cs typeface="Times New Roman"/>
                <a:sym typeface="Times New Roman"/>
              </a:rPr>
              <a:t>[1] Chris Burtin et al. “Early exercise in critically ill patients enhances short-term functional recovery”. In: Crit. Care Med. 37.9 (September 2009), pp. 2499–2505.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>
                <a:latin typeface="Times New Roman"/>
                <a:ea typeface="Times New Roman"/>
                <a:cs typeface="Times New Roman"/>
                <a:sym typeface="Times New Roman"/>
              </a:rPr>
              <a:t>[2] Daniela Nascimento et al. "Avaliação de um Exergame para a Telerreabilitação de Pacientes". Em: Anais Estendidos do XXIII SBCAS. São Paulo/SP: SBC, 2023, pp. 48–53.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>
                <a:latin typeface="Times New Roman"/>
                <a:ea typeface="Times New Roman"/>
                <a:cs typeface="Times New Roman"/>
                <a:sym typeface="Times New Roman"/>
              </a:rPr>
              <a:t>[3] HL7 FHIR Release 4.   URL: https://www.hl7.org/fhir/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8758925" y="7981750"/>
            <a:ext cx="1321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E-mail: </a:t>
            </a:r>
            <a:r>
              <a:rPr lang="pt-BR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fdaniela@discente.ufg.br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32825" y="8003150"/>
            <a:ext cx="20497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Modalidade: </a:t>
            </a:r>
            <a:r>
              <a:rPr lang="pt-BR" sz="4000">
                <a:latin typeface="Times New Roman"/>
                <a:ea typeface="Times New Roman"/>
                <a:cs typeface="Times New Roman"/>
                <a:sym typeface="Times New Roman"/>
              </a:rPr>
              <a:t>Programa de Iniciação Científica, Tecnológica e em Inovação</a:t>
            </a:r>
            <a:r>
              <a:rPr b="0" i="0" lang="pt-BR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28225" y="18092638"/>
            <a:ext cx="15450900" cy="89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979488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b="1" i="0" lang="pt-BR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979488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5000">
                <a:latin typeface="Times New Roman"/>
                <a:ea typeface="Times New Roman"/>
                <a:cs typeface="Times New Roman"/>
                <a:sym typeface="Times New Roman"/>
              </a:rPr>
              <a:t>O objetivo é aprimorar os estudos técnicos e científicos e implementar melhorias no CicloExergame, com base na avaliação de fisioterapeutas e nos testes com usuários de 2021 a 2022 [2]. Buscou-se analisar os resultados, explorar técnicas e ferramentas para atender às necessidades de melhoria identificadas e, em seguida, lançar uma nova versão aprimorada do CicloExergame.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979488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Times New Roman"/>
              <a:buNone/>
            </a:pPr>
            <a:r>
              <a:t/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6756075" y="30398988"/>
            <a:ext cx="15261600" cy="7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082675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pt-BR" sz="5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CONCLUSÃO 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082675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082675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pt-BR" sz="5000">
                <a:latin typeface="Times New Roman"/>
                <a:ea typeface="Times New Roman"/>
                <a:cs typeface="Times New Roman"/>
                <a:sym typeface="Times New Roman"/>
              </a:rPr>
              <a:t>O CicloExergame é uma promissora inovação na área da reabilitação, oferecendo uma abordagem envolvente e colaborativa para a recuperação dos pacientes. As implementações realizadas durante esta fase de pesquisa mostraram resultados positivos, fortalecendo o potencial do jogo como uma ferramenta eficaz de apoio à reabilitação e melhorando a experiência dos pacientes.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293530" y="42146389"/>
            <a:ext cx="14660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pt-BR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Financiamento </a:t>
            </a:r>
            <a:r>
              <a:rPr lang="pt-BR" sz="4000">
                <a:latin typeface="Times New Roman"/>
                <a:ea typeface="Times New Roman"/>
                <a:cs typeface="Times New Roman"/>
                <a:sym typeface="Times New Roman"/>
              </a:rPr>
              <a:t>CNPQ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25" y="37521572"/>
            <a:ext cx="15082701" cy="4035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35140" l="0" r="0" t="0"/>
          <a:stretch/>
        </p:blipFill>
        <p:spPr>
          <a:xfrm>
            <a:off x="17226522" y="23305972"/>
            <a:ext cx="14513701" cy="656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10329" l="0" r="0" t="0"/>
          <a:stretch/>
        </p:blipFill>
        <p:spPr>
          <a:xfrm>
            <a:off x="16845525" y="9831938"/>
            <a:ext cx="15082711" cy="39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6">
            <a:alphaModFix/>
          </a:blip>
          <a:srcRect b="41055" l="0" r="0" t="0"/>
          <a:stretch/>
        </p:blipFill>
        <p:spPr>
          <a:xfrm>
            <a:off x="28444375" y="4021375"/>
            <a:ext cx="2995965" cy="392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2023-06-05T14:18:25Z</dcterms:created>
  <dc:creator>Pamela Keiti Baena</dc:creator>
</cp:coreProperties>
</file>