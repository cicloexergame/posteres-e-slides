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6.xml"/><Relationship Id="rId22" Type="http://schemas.openxmlformats.org/officeDocument/2006/relationships/font" Target="fonts/Roboto-italic.fntdata"/><Relationship Id="rId10" Type="http://schemas.openxmlformats.org/officeDocument/2006/relationships/slide" Target="slides/slide5.xml"/><Relationship Id="rId21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daf112ca8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daf112ca8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Exercícios repetitivos, enfadonhos. Sem engajamento ou motivação, a reabilitação não alcança os resultados esperados.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daf112ca8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daf112ca8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Exercícios repetitivos, enfadonhos. Sem engajamento ou motivação, a reabilitação não alcança os resultados esperados.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c6f9e470d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c6f9e470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Presença grande da Telerreabilitação, dificuldades de acesso, custo ou pela pandemia.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daf112ca85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daf112ca8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Presença grande da Telerreabilitação, dificuldades de acesso, custo ou pela pandemia.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daf112ca85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daf112ca8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Presença grande da Telerreabilitação, dificuldades de acesso, custo ou pela pandemia.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c6f9e470d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c6f9e47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daf112ca8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daf112ca8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c6f9e470d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c6f9e47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Encontrar um fio na pluralidade de abordagens.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daf112ca85_0_5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daf112ca8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Pensar em características. Linhas comuns, apontamentos.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daf112ca85_0_6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daf112ca85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RV imersiva, contexto ou histórias envolventes, feedback motivacional, humor e promoção da autonomia. Estabelecer vínculo.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daf112ca85_0_7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daf112ca85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RV imersiva, contexto ou histórias envolventes, feedback motivacional, humor e promoção da autonomia. Estabelecer vínculo.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daf112ca85_0_7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daf112ca85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Pensar em características. Linhas comuns, apontamentos.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118478"/>
            <a:ext cx="8222100" cy="1754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/>
              <a:t>Jogos Digitais e Engajamento na Reabilitação de Pacientes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500"/>
              <a:t>Uma Revisão Sistemática da Literatura</a:t>
            </a:r>
            <a:endParaRPr i="1" sz="2500"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100" y="3530103"/>
            <a:ext cx="8222100" cy="1446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i="1" lang="pt-BR"/>
              <a:t>Carlos Henrique Rorato Souza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i="1" lang="pt-BR"/>
              <a:t>Daniel Machado de Oliveira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i="1" lang="pt-BR"/>
              <a:t>Luciana de Oliveira Berretta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i="1" lang="pt-BR"/>
              <a:t>Sérgio Teixeira de Carvalho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520600" cy="6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Reabilitação de pacientes: muitas variáveis!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pt-BR"/>
              <a:t>Engajamento</a:t>
            </a:r>
            <a:r>
              <a:rPr lang="pt-BR"/>
              <a:t>, uma questão crucial.</a:t>
            </a:r>
            <a:endParaRPr/>
          </a:p>
        </p:txBody>
      </p:sp>
      <p:grpSp>
        <p:nvGrpSpPr>
          <p:cNvPr id="93" name="Google Shape;93;p14"/>
          <p:cNvGrpSpPr/>
          <p:nvPr/>
        </p:nvGrpSpPr>
        <p:grpSpPr>
          <a:xfrm>
            <a:off x="622170" y="2126252"/>
            <a:ext cx="5305171" cy="2606030"/>
            <a:chOff x="431925" y="1304875"/>
            <a:chExt cx="2628925" cy="3416400"/>
          </a:xfrm>
        </p:grpSpPr>
        <p:sp>
          <p:nvSpPr>
            <p:cNvPr id="94" name="Google Shape;94;p14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696650" y="2126250"/>
            <a:ext cx="2494500" cy="3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</a:rPr>
              <a:t>Engajamento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97" name="Google Shape;97;p14"/>
          <p:cNvSpPr txBox="1"/>
          <p:nvPr>
            <p:ph idx="1" type="body"/>
          </p:nvPr>
        </p:nvSpPr>
        <p:spPr>
          <a:xfrm>
            <a:off x="782225" y="2571750"/>
            <a:ext cx="4992900" cy="20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Envolvimento profundo do jogador na realidade do jogo, que o deixa “imerso” nesta realidade (estado de </a:t>
            </a:r>
            <a:r>
              <a:rPr i="1" lang="pt-BR" sz="1600"/>
              <a:t>flow</a:t>
            </a:r>
            <a:r>
              <a:rPr lang="pt-BR" sz="1600"/>
              <a:t>), fazendo com que ele queira continuar dentro desse universo, sendo continuamente motivado e estimulado a assim permanecer.</a:t>
            </a:r>
            <a:endParaRPr sz="1600"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1200"/>
              <a:t>[Csikszentmihalyi 2020, Kapp 2012, Huizinga 2020, Chou et al. 2014]</a:t>
            </a:r>
            <a:endParaRPr sz="1200"/>
          </a:p>
        </p:txBody>
      </p:sp>
      <p:pic>
        <p:nvPicPr>
          <p:cNvPr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38755" t="0"/>
          <a:stretch/>
        </p:blipFill>
        <p:spPr>
          <a:xfrm>
            <a:off x="6026450" y="71400"/>
            <a:ext cx="3117550" cy="307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311700" y="2578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311700" y="940750"/>
            <a:ext cx="8520600" cy="6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Abordagens com Jogos: atividades menos enfadonhas, mais engajamento!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Elementos de jogos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Interação jogador-jogo</a:t>
            </a:r>
            <a:endParaRPr/>
          </a:p>
        </p:txBody>
      </p:sp>
      <p:pic>
        <p:nvPicPr>
          <p:cNvPr id="105" name="Google Shape;105;p15"/>
          <p:cNvPicPr preferRelativeResize="0"/>
          <p:nvPr/>
        </p:nvPicPr>
        <p:blipFill rotWithShape="1">
          <a:blip r:embed="rId3">
            <a:alphaModFix/>
          </a:blip>
          <a:srcRect b="11863" l="0" r="0" t="0"/>
          <a:stretch/>
        </p:blipFill>
        <p:spPr>
          <a:xfrm>
            <a:off x="1163900" y="2089625"/>
            <a:ext cx="3979624" cy="273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0925" y="2089625"/>
            <a:ext cx="1873347" cy="274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Objetivo</a:t>
            </a:r>
            <a:endParaRPr/>
          </a:p>
        </p:txBody>
      </p:sp>
      <p:sp>
        <p:nvSpPr>
          <p:cNvPr id="112" name="Google Shape;112;p16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Revisão Sistemática da Literatura (RSL)</a:t>
            </a:r>
            <a:endParaRPr/>
          </a:p>
        </p:txBody>
      </p:sp>
      <p:sp>
        <p:nvSpPr>
          <p:cNvPr id="113" name="Google Shape;113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2100"/>
              <a:t>explorar, identificar e analisar </a:t>
            </a:r>
            <a:r>
              <a:rPr lang="pt-BR"/>
              <a:t>os projetos de </a:t>
            </a:r>
            <a:r>
              <a:rPr b="1" i="1" lang="pt-BR"/>
              <a:t>jogos digitais</a:t>
            </a:r>
            <a:r>
              <a:rPr lang="pt-BR"/>
              <a:t> existentes que propõem-se a </a:t>
            </a:r>
            <a:r>
              <a:rPr b="1" i="1" lang="pt-BR"/>
              <a:t>engajar</a:t>
            </a:r>
            <a:r>
              <a:rPr lang="pt-BR"/>
              <a:t> o paciente na realização de sessões de reabilitação e/ou telerreabilitação, isto é, quando a atividade é realizada de forma remota, através de meios de comunicação.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Questões de Pesquisa</a:t>
            </a:r>
            <a:endParaRPr/>
          </a:p>
        </p:txBody>
      </p:sp>
      <p:grpSp>
        <p:nvGrpSpPr>
          <p:cNvPr id="119" name="Google Shape;119;p17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120" name="Google Shape;120;p17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7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</a:rPr>
              <a:t>Q1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23" name="Google Shape;123;p17"/>
          <p:cNvSpPr txBox="1"/>
          <p:nvPr>
            <p:ph idx="4294967295" type="body"/>
          </p:nvPr>
        </p:nvSpPr>
        <p:spPr>
          <a:xfrm>
            <a:off x="50832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600"/>
              <a:t>Quais são os projetos existentes que apresentam a construção de um jogo digital visando engajar o paciente na realização de sessões de reabilitação e/ou telerreabilitação?</a:t>
            </a:r>
            <a:endParaRPr sz="1600"/>
          </a:p>
        </p:txBody>
      </p:sp>
      <p:grpSp>
        <p:nvGrpSpPr>
          <p:cNvPr id="124" name="Google Shape;124;p17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125" name="Google Shape;125;p17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" name="Google Shape;127;p17"/>
          <p:cNvSpPr txBox="1"/>
          <p:nvPr>
            <p:ph idx="4294967295" type="body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</a:rPr>
              <a:t>Q2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28" name="Google Shape;128;p17"/>
          <p:cNvSpPr txBox="1"/>
          <p:nvPr>
            <p:ph idx="4294967295" type="body"/>
          </p:nvPr>
        </p:nvSpPr>
        <p:spPr>
          <a:xfrm>
            <a:off x="339677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600"/>
              <a:t>Quais elementos de jogos são empregados para suscitar engajamento no paciente?</a:t>
            </a:r>
            <a:endParaRPr sz="1600"/>
          </a:p>
        </p:txBody>
      </p:sp>
      <p:grpSp>
        <p:nvGrpSpPr>
          <p:cNvPr id="129" name="Google Shape;129;p17"/>
          <p:cNvGrpSpPr/>
          <p:nvPr/>
        </p:nvGrpSpPr>
        <p:grpSpPr>
          <a:xfrm>
            <a:off x="6212550" y="1304875"/>
            <a:ext cx="2632500" cy="3416400"/>
            <a:chOff x="6212550" y="1304875"/>
            <a:chExt cx="2632500" cy="3416400"/>
          </a:xfrm>
        </p:grpSpPr>
        <p:sp>
          <p:nvSpPr>
            <p:cNvPr id="130" name="Google Shape;130;p17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7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7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</a:rPr>
              <a:t>Q3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133" name="Google Shape;133;p17"/>
          <p:cNvSpPr txBox="1"/>
          <p:nvPr>
            <p:ph idx="4294967295" type="body"/>
          </p:nvPr>
        </p:nvSpPr>
        <p:spPr>
          <a:xfrm>
            <a:off x="6286400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600"/>
              <a:t>Como se dá a interação entre o paciente e o jogo desenvolvido?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>
            <p:ph type="title"/>
          </p:nvPr>
        </p:nvSpPr>
        <p:spPr>
          <a:xfrm>
            <a:off x="167250" y="498525"/>
            <a:ext cx="4304700" cy="8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Termo de Busca</a:t>
            </a:r>
            <a:endParaRPr b="1"/>
          </a:p>
        </p:txBody>
      </p:sp>
      <p:sp>
        <p:nvSpPr>
          <p:cNvPr id="139" name="Google Shape;139;p18"/>
          <p:cNvSpPr txBox="1"/>
          <p:nvPr>
            <p:ph idx="2" type="body"/>
          </p:nvPr>
        </p:nvSpPr>
        <p:spPr>
          <a:xfrm>
            <a:off x="4932500" y="5628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/>
              <a:t>(“game” OR “exergame” OR “exergaming” OR “games”)</a:t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 sz="2000"/>
              <a:t> AND </a:t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 sz="2000"/>
              <a:t>(“rehabilitation” OR “telerehabilitation” OR “tele rehabilitation” OR “tele-rehabilitation”) </a:t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 sz="2000"/>
              <a:t>AND </a:t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BR" sz="2000"/>
              <a:t>(“engagement” OR “adherence” OR “engaging”)</a:t>
            </a:r>
            <a:endParaRPr sz="1700"/>
          </a:p>
        </p:txBody>
      </p:sp>
      <p:sp>
        <p:nvSpPr>
          <p:cNvPr id="140" name="Google Shape;140;p18"/>
          <p:cNvSpPr txBox="1"/>
          <p:nvPr>
            <p:ph idx="2" type="body"/>
          </p:nvPr>
        </p:nvSpPr>
        <p:spPr>
          <a:xfrm>
            <a:off x="280675" y="1691050"/>
            <a:ext cx="4159800" cy="296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2"/>
                </a:solidFill>
              </a:rPr>
              <a:t>Palavras-chave: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2"/>
                </a:solidFill>
              </a:rPr>
              <a:t>(P.1) </a:t>
            </a:r>
            <a:r>
              <a:rPr lang="pt-BR" sz="1600">
                <a:solidFill>
                  <a:schemeClr val="dk2"/>
                </a:solidFill>
              </a:rPr>
              <a:t>engagement (adherence, engaging)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2"/>
                </a:solidFill>
              </a:rPr>
              <a:t>(P.2)</a:t>
            </a:r>
            <a:r>
              <a:rPr lang="pt-BR" sz="1600">
                <a:solidFill>
                  <a:schemeClr val="dk2"/>
                </a:solidFill>
              </a:rPr>
              <a:t> game (exergame, exergaming, games)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b="1" lang="pt-BR" sz="1600">
                <a:solidFill>
                  <a:schemeClr val="dk2"/>
                </a:solidFill>
              </a:rPr>
              <a:t>(P.3)</a:t>
            </a:r>
            <a:r>
              <a:rPr lang="pt-BR" sz="1600">
                <a:solidFill>
                  <a:schemeClr val="dk2"/>
                </a:solidFill>
              </a:rPr>
              <a:t> rehabilitation (telerehabilitation, tele rehabilitation, tele-rehabilitation)</a:t>
            </a:r>
            <a:r>
              <a:rPr lang="pt-BR" sz="1600">
                <a:solidFill>
                  <a:schemeClr val="dk2"/>
                </a:solidFill>
              </a:rPr>
              <a:t> 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>
            <p:ph type="title"/>
          </p:nvPr>
        </p:nvSpPr>
        <p:spPr>
          <a:xfrm>
            <a:off x="135775" y="140650"/>
            <a:ext cx="4304700" cy="5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/>
              <a:t>Critérios de Inclusão</a:t>
            </a:r>
            <a:endParaRPr b="1" sz="3400"/>
          </a:p>
        </p:txBody>
      </p:sp>
      <p:sp>
        <p:nvSpPr>
          <p:cNvPr id="146" name="Google Shape;146;p19"/>
          <p:cNvSpPr txBox="1"/>
          <p:nvPr>
            <p:ph idx="2" type="body"/>
          </p:nvPr>
        </p:nvSpPr>
        <p:spPr>
          <a:xfrm>
            <a:off x="4932500" y="1150800"/>
            <a:ext cx="3837000" cy="31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pt-BR" sz="1400"/>
              <a:t>Não apresenta nenhuma das palavras-chave no título e/ou resumo;</a:t>
            </a:r>
            <a:endParaRPr b="1"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pt-BR" sz="1400"/>
              <a:t>Não apresenta o desenvolvimento de um jogo digital;</a:t>
            </a:r>
            <a:endParaRPr b="1"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pt-BR" sz="1400"/>
              <a:t>Não apresenta avaliação e resultados;</a:t>
            </a:r>
            <a:endParaRPr b="1"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pt-BR" sz="1400"/>
              <a:t>Não é artigo científico;</a:t>
            </a:r>
            <a:endParaRPr b="1"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pt-BR" sz="1400"/>
              <a:t>Não está escrito nas línguas portuguesa ou inglesa;</a:t>
            </a:r>
            <a:endParaRPr b="1"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pt-BR" sz="1400"/>
              <a:t>Não está inserido no contexto de fisioterapia/reabilitação;</a:t>
            </a:r>
            <a:endParaRPr b="1"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pt-BR" sz="1400"/>
              <a:t>Não possui resumo e título;</a:t>
            </a:r>
            <a:endParaRPr b="1"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pt-BR" sz="1400"/>
              <a:t>Texto integral do trabalho não acessível; e</a:t>
            </a:r>
            <a:endParaRPr b="1"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pt-BR" sz="1400"/>
              <a:t>Trabalho possui data de publicação anterior a 5 anos.</a:t>
            </a:r>
            <a:endParaRPr b="1" sz="1400"/>
          </a:p>
        </p:txBody>
      </p:sp>
      <p:sp>
        <p:nvSpPr>
          <p:cNvPr id="147" name="Google Shape;147;p19"/>
          <p:cNvSpPr txBox="1"/>
          <p:nvPr>
            <p:ph idx="2" type="body"/>
          </p:nvPr>
        </p:nvSpPr>
        <p:spPr>
          <a:xfrm>
            <a:off x="180150" y="1188750"/>
            <a:ext cx="4159800" cy="296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b="1" lang="pt-BR" sz="1600">
                <a:solidFill>
                  <a:schemeClr val="dk2"/>
                </a:solidFill>
              </a:rPr>
              <a:t>O trabalho apresenta a construção de um jogo para a reabilitação? </a:t>
            </a:r>
            <a:endParaRPr b="1" sz="16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b="1" lang="pt-BR" sz="1600">
                <a:solidFill>
                  <a:schemeClr val="dk2"/>
                </a:solidFill>
              </a:rPr>
              <a:t>O trabalho apresenta projeto sobre jogos em telerreabilitação?</a:t>
            </a:r>
            <a:r>
              <a:rPr lang="pt-BR" sz="1600">
                <a:solidFill>
                  <a:schemeClr val="dk2"/>
                </a:solidFill>
              </a:rPr>
              <a:t> 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48" name="Google Shape;148;p19"/>
          <p:cNvSpPr txBox="1"/>
          <p:nvPr>
            <p:ph type="title"/>
          </p:nvPr>
        </p:nvSpPr>
        <p:spPr>
          <a:xfrm>
            <a:off x="4698650" y="140650"/>
            <a:ext cx="4304700" cy="5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chemeClr val="lt1"/>
                </a:solidFill>
              </a:rPr>
              <a:t>Critérios de Exclusão</a:t>
            </a:r>
            <a:endParaRPr b="1" sz="3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>
            <p:ph type="title"/>
          </p:nvPr>
        </p:nvSpPr>
        <p:spPr>
          <a:xfrm>
            <a:off x="556000" y="56649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Condução da RSL</a:t>
            </a:r>
            <a:endParaRPr b="1"/>
          </a:p>
        </p:txBody>
      </p:sp>
      <p:sp>
        <p:nvSpPr>
          <p:cNvPr id="154" name="Google Shape;154;p20"/>
          <p:cNvSpPr txBox="1"/>
          <p:nvPr>
            <p:ph type="title"/>
          </p:nvPr>
        </p:nvSpPr>
        <p:spPr>
          <a:xfrm>
            <a:off x="362700" y="1511822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/>
              <a:t>Foram selecionados </a:t>
            </a:r>
            <a:r>
              <a:rPr b="1" lang="pt-BR" sz="3700"/>
              <a:t>93</a:t>
            </a:r>
            <a:r>
              <a:rPr lang="pt-BR" sz="2800"/>
              <a:t> estudos</a:t>
            </a:r>
            <a:endParaRPr sz="2800"/>
          </a:p>
        </p:txBody>
      </p:sp>
      <p:pic>
        <p:nvPicPr>
          <p:cNvPr id="155" name="Google Shape;15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8125" y="2457147"/>
            <a:ext cx="5047754" cy="2488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Resultados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68100"/>
            <a:ext cx="8839199" cy="337076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Aspectos Gerais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/>
          <p:nvPr>
            <p:ph type="title"/>
          </p:nvPr>
        </p:nvSpPr>
        <p:spPr>
          <a:xfrm>
            <a:off x="311700" y="248625"/>
            <a:ext cx="8520600" cy="11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/>
              <a:t>Q1: Quais são os projetos existentes que apresentam a construção de um jogo digital visando engajar o paciente na realização de sessões de reabilitação e/ou telerreabilitação?</a:t>
            </a:r>
            <a:endParaRPr b="1" sz="2000"/>
          </a:p>
        </p:txBody>
      </p:sp>
      <p:sp>
        <p:nvSpPr>
          <p:cNvPr id="172" name="Google Shape;172;p23"/>
          <p:cNvSpPr txBox="1"/>
          <p:nvPr>
            <p:ph idx="4294967295" type="body"/>
          </p:nvPr>
        </p:nvSpPr>
        <p:spPr>
          <a:xfrm>
            <a:off x="464100" y="13822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pt-BR"/>
              <a:t>Problema de saúde abordado: </a:t>
            </a:r>
            <a:r>
              <a:rPr lang="pt-BR"/>
              <a:t>disfunções motoras, resultado de grandes períodos de internação, disfunções musculares por AVCs ou ainda pela idade avançada do paciente. Dedicação maior aos membros superiores (50,5%).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pt-BR"/>
              <a:t>Justificativa para a criação dos jogos: </a:t>
            </a:r>
            <a:r>
              <a:rPr lang="pt-BR"/>
              <a:t>falta de motivação/engajamento (68,8%), alto custo do tratamento (15%) ou outros fatores (26,8%), como dificuldades de acesso.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pt-BR"/>
              <a:t>Abordagens envolvendo telerreabilitação:</a:t>
            </a:r>
            <a:r>
              <a:rPr lang="pt-BR"/>
              <a:t> 12% de forma direta; porém, muitos apresentam a </a:t>
            </a:r>
            <a:r>
              <a:rPr b="1" i="1" lang="pt-BR"/>
              <a:t>home-based rehabilitation</a:t>
            </a:r>
            <a:r>
              <a:rPr lang="pt-BR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pt-BR"/>
              <a:t>Participação do profissional de saúde no processo:</a:t>
            </a:r>
            <a:r>
              <a:rPr lang="pt-BR"/>
              <a:t> 84,9% durante testes e validação.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/>
          <p:nvPr>
            <p:ph type="title"/>
          </p:nvPr>
        </p:nvSpPr>
        <p:spPr>
          <a:xfrm>
            <a:off x="311700" y="248625"/>
            <a:ext cx="8520600" cy="11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/>
              <a:t>Q2: </a:t>
            </a:r>
            <a:r>
              <a:rPr b="1" lang="pt-BR" sz="2000"/>
              <a:t>Quais elementos de jogos são empregados para suscitar engajamento no paciente?</a:t>
            </a:r>
            <a:endParaRPr b="1" sz="2000"/>
          </a:p>
        </p:txBody>
      </p:sp>
      <p:pic>
        <p:nvPicPr>
          <p:cNvPr id="178" name="Google Shape;17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163" y="1099650"/>
            <a:ext cx="3454375" cy="383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4"/>
          <p:cNvPicPr preferRelativeResize="0"/>
          <p:nvPr/>
        </p:nvPicPr>
        <p:blipFill rotWithShape="1">
          <a:blip r:embed="rId4">
            <a:alphaModFix/>
          </a:blip>
          <a:srcRect b="5939" l="0" r="0" t="15084"/>
          <a:stretch/>
        </p:blipFill>
        <p:spPr>
          <a:xfrm>
            <a:off x="4121900" y="924225"/>
            <a:ext cx="4854756" cy="383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/>
          <p:nvPr>
            <p:ph type="title"/>
          </p:nvPr>
        </p:nvSpPr>
        <p:spPr>
          <a:xfrm>
            <a:off x="311700" y="248625"/>
            <a:ext cx="8520600" cy="11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/>
              <a:t>Q3: </a:t>
            </a:r>
            <a:r>
              <a:rPr b="1" lang="pt-BR" sz="2000"/>
              <a:t>Como se dá a interação entre o paciente e o jogo desenvolvido?</a:t>
            </a:r>
            <a:endParaRPr b="1" sz="2000"/>
          </a:p>
        </p:txBody>
      </p:sp>
      <p:pic>
        <p:nvPicPr>
          <p:cNvPr id="185" name="Google Shape;18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501" y="1001600"/>
            <a:ext cx="3365525" cy="3759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4525" y="898174"/>
            <a:ext cx="2629624" cy="2296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13200" y="1055700"/>
            <a:ext cx="2530800" cy="121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84525" y="3290971"/>
            <a:ext cx="3412375" cy="172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/>
          <p:nvPr>
            <p:ph type="title"/>
          </p:nvPr>
        </p:nvSpPr>
        <p:spPr>
          <a:xfrm>
            <a:off x="311700" y="248625"/>
            <a:ext cx="8520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700"/>
              <a:t>Concluindo...</a:t>
            </a:r>
            <a:endParaRPr b="1" sz="2700"/>
          </a:p>
        </p:txBody>
      </p:sp>
      <p:sp>
        <p:nvSpPr>
          <p:cNvPr id="194" name="Google Shape;194;p26"/>
          <p:cNvSpPr txBox="1"/>
          <p:nvPr>
            <p:ph idx="4294967295" type="body"/>
          </p:nvPr>
        </p:nvSpPr>
        <p:spPr>
          <a:xfrm>
            <a:off x="351825" y="10805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pt-BR"/>
              <a:t>Diversidade de abordagens. Importância à natureza do problema e ao planejamento. Balancear precisão e praticidade.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pt-BR"/>
              <a:t>Sobre a telerreabilitação…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pt-BR"/>
              <a:t>Importância do engajamento!</a:t>
            </a:r>
            <a:endParaRPr b="1"/>
          </a:p>
        </p:txBody>
      </p:sp>
      <p:pic>
        <p:nvPicPr>
          <p:cNvPr id="195" name="Google Shape;19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400" y="2750700"/>
            <a:ext cx="3957599" cy="197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6"/>
          <p:cNvPicPr preferRelativeResize="0"/>
          <p:nvPr/>
        </p:nvPicPr>
        <p:blipFill rotWithShape="1">
          <a:blip r:embed="rId4">
            <a:alphaModFix/>
          </a:blip>
          <a:srcRect b="0" l="0" r="9820" t="0"/>
          <a:stretch/>
        </p:blipFill>
        <p:spPr>
          <a:xfrm>
            <a:off x="4636801" y="1968050"/>
            <a:ext cx="4427074" cy="276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